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61" r:id="rId2"/>
    <p:sldId id="285" r:id="rId3"/>
    <p:sldId id="257" r:id="rId4"/>
    <p:sldId id="262" r:id="rId5"/>
    <p:sldId id="275" r:id="rId6"/>
    <p:sldId id="274" r:id="rId7"/>
    <p:sldId id="259" r:id="rId8"/>
    <p:sldId id="263" r:id="rId9"/>
    <p:sldId id="260" r:id="rId10"/>
    <p:sldId id="264" r:id="rId11"/>
    <p:sldId id="265" r:id="rId12"/>
    <p:sldId id="266" r:id="rId13"/>
    <p:sldId id="267" r:id="rId14"/>
    <p:sldId id="268" r:id="rId15"/>
    <p:sldId id="269" r:id="rId16"/>
    <p:sldId id="270" r:id="rId17"/>
    <p:sldId id="282" r:id="rId18"/>
    <p:sldId id="271" r:id="rId19"/>
    <p:sldId id="272" r:id="rId20"/>
    <p:sldId id="273" r:id="rId21"/>
    <p:sldId id="280" r:id="rId22"/>
    <p:sldId id="279" r:id="rId23"/>
    <p:sldId id="278" r:id="rId24"/>
    <p:sldId id="277"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1111" autoAdjust="0"/>
  </p:normalViewPr>
  <p:slideViewPr>
    <p:cSldViewPr snapToGrid="0">
      <p:cViewPr varScale="1">
        <p:scale>
          <a:sx n="89" d="100"/>
          <a:sy n="89" d="100"/>
        </p:scale>
        <p:origin x="61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E909D0-64E5-45C9-836B-7A0308E2F504}" type="datetimeFigureOut">
              <a:rPr lang="en-IN" smtClean="0"/>
              <a:t>22-02-2025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642EAB-FC93-41D4-A87F-892E1A94853B}" type="slidenum">
              <a:rPr lang="en-IN" smtClean="0"/>
              <a:t>‹#›</a:t>
            </a:fld>
            <a:endParaRPr lang="en-IN"/>
          </a:p>
        </p:txBody>
      </p:sp>
    </p:spTree>
    <p:extLst>
      <p:ext uri="{BB962C8B-B14F-4D97-AF65-F5344CB8AC3E}">
        <p14:creationId xmlns:p14="http://schemas.microsoft.com/office/powerpoint/2010/main" val="402210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642EAB-FC93-41D4-A87F-892E1A94853B}" type="slidenum">
              <a:rPr lang="en-IN" smtClean="0"/>
              <a:t>18</a:t>
            </a:fld>
            <a:endParaRPr lang="en-IN"/>
          </a:p>
        </p:txBody>
      </p:sp>
    </p:spTree>
    <p:extLst>
      <p:ext uri="{BB962C8B-B14F-4D97-AF65-F5344CB8AC3E}">
        <p14:creationId xmlns:p14="http://schemas.microsoft.com/office/powerpoint/2010/main" val="2000825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2/22/2025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4BAAD5-77A5-D035-C679-3569F49A0A3E}"/>
              </a:ext>
            </a:extLst>
          </p:cNvPr>
          <p:cNvSpPr txBox="1"/>
          <p:nvPr/>
        </p:nvSpPr>
        <p:spPr>
          <a:xfrm>
            <a:off x="2644877" y="442452"/>
            <a:ext cx="7226710" cy="584775"/>
          </a:xfrm>
          <a:prstGeom prst="rect">
            <a:avLst/>
          </a:prstGeom>
          <a:noFill/>
        </p:spPr>
        <p:txBody>
          <a:bodyPr wrap="square" rtlCol="0">
            <a:spAutoFit/>
          </a:bodyPr>
          <a:lstStyle/>
          <a:p>
            <a:r>
              <a:rPr lang="en-US" sz="3200" b="1" dirty="0">
                <a:solidFill>
                  <a:srgbClr val="C00000"/>
                </a:solidFill>
                <a:latin typeface="Times New Roman" panose="02020603050405020304" pitchFamily="18" charset="0"/>
                <a:cs typeface="Times New Roman" panose="02020603050405020304" pitchFamily="18" charset="0"/>
              </a:rPr>
              <a:t>INTERNSHIP ON CYBERSECURITY</a:t>
            </a:r>
            <a:endParaRPr lang="en-IN" sz="3200" dirty="0"/>
          </a:p>
        </p:txBody>
      </p:sp>
      <p:sp>
        <p:nvSpPr>
          <p:cNvPr id="3" name="TextBox 2">
            <a:extLst>
              <a:ext uri="{FF2B5EF4-FFF2-40B4-BE49-F238E27FC236}">
                <a16:creationId xmlns:a16="http://schemas.microsoft.com/office/drawing/2014/main" id="{DEEDAAA6-1E20-05AA-025C-B3F2E52EAF1B}"/>
              </a:ext>
            </a:extLst>
          </p:cNvPr>
          <p:cNvSpPr txBox="1"/>
          <p:nvPr/>
        </p:nvSpPr>
        <p:spPr>
          <a:xfrm>
            <a:off x="2644877" y="1248697"/>
            <a:ext cx="8652387" cy="461665"/>
          </a:xfrm>
          <a:prstGeom prst="rect">
            <a:avLst/>
          </a:prstGeom>
          <a:noFill/>
        </p:spPr>
        <p:txBody>
          <a:bodyPr wrap="square" rtlCol="0">
            <a:spAutoFit/>
          </a:bodyPr>
          <a:lstStyle/>
          <a:p>
            <a:r>
              <a:rPr lang="en-US" sz="2400" dirty="0"/>
              <a:t>Nmap (Network -Mapper) for Cyber Security</a:t>
            </a:r>
            <a:endParaRPr lang="en-IN" sz="2400" dirty="0"/>
          </a:p>
        </p:txBody>
      </p:sp>
      <p:pic>
        <p:nvPicPr>
          <p:cNvPr id="4" name="Content Placeholder 20">
            <a:extLst>
              <a:ext uri="{FF2B5EF4-FFF2-40B4-BE49-F238E27FC236}">
                <a16:creationId xmlns:a16="http://schemas.microsoft.com/office/drawing/2014/main" id="{84DBBCAD-C41C-8952-6A8D-6FA8BA26988B}"/>
              </a:ext>
            </a:extLst>
          </p:cNvPr>
          <p:cNvPicPr>
            <a:picLocks noChangeAspect="1"/>
          </p:cNvPicPr>
          <p:nvPr/>
        </p:nvPicPr>
        <p:blipFill>
          <a:blip r:embed="rId2"/>
          <a:stretch>
            <a:fillRect/>
          </a:stretch>
        </p:blipFill>
        <p:spPr>
          <a:xfrm>
            <a:off x="3991897" y="2427753"/>
            <a:ext cx="4208205" cy="1311798"/>
          </a:xfrm>
          <a:prstGeom prst="rect">
            <a:avLst/>
          </a:prstGeom>
        </p:spPr>
      </p:pic>
      <p:sp>
        <p:nvSpPr>
          <p:cNvPr id="6" name="TextBox 5">
            <a:extLst>
              <a:ext uri="{FF2B5EF4-FFF2-40B4-BE49-F238E27FC236}">
                <a16:creationId xmlns:a16="http://schemas.microsoft.com/office/drawing/2014/main" id="{89B162D2-EF64-024E-B3A1-326C88B28299}"/>
              </a:ext>
            </a:extLst>
          </p:cNvPr>
          <p:cNvSpPr txBox="1"/>
          <p:nvPr/>
        </p:nvSpPr>
        <p:spPr>
          <a:xfrm>
            <a:off x="2320413" y="4598245"/>
            <a:ext cx="8377084" cy="1477328"/>
          </a:xfrm>
          <a:prstGeom prst="rect">
            <a:avLst/>
          </a:prstGeom>
          <a:noFill/>
        </p:spPr>
        <p:txBody>
          <a:bodyPr wrap="square" rtlCol="0">
            <a:spAutoFit/>
          </a:bodyPr>
          <a:lstStyle/>
          <a:p>
            <a:pPr algn="ctr" rtl="0"/>
            <a:r>
              <a:rPr lang="en-IN" sz="2400" b="1" i="0" u="none" strike="noStrike" dirty="0">
                <a:solidFill>
                  <a:srgbClr val="C00000"/>
                </a:solidFill>
                <a:effectLst/>
                <a:latin typeface="Times New Roman" panose="02020603050405020304" pitchFamily="18" charset="0"/>
                <a:cs typeface="Times New Roman" panose="02020603050405020304" pitchFamily="18" charset="0"/>
              </a:rPr>
              <a:t>Batch ID: 23-SEP-24-SKL-CSPP-BUN-750-WDA14-HYD</a:t>
            </a:r>
            <a:endParaRPr lang="en-IN" sz="2400" b="1" dirty="0">
              <a:solidFill>
                <a:srgbClr val="C00000"/>
              </a:solidFill>
              <a:effectLst/>
              <a:latin typeface="Times New Roman" panose="02020603050405020304" pitchFamily="18" charset="0"/>
              <a:cs typeface="Times New Roman" panose="02020603050405020304" pitchFamily="18" charset="0"/>
            </a:endParaRPr>
          </a:p>
          <a:p>
            <a:pPr algn="ctr" rtl="0"/>
            <a:r>
              <a:rPr lang="en-IN" sz="2400" b="1" i="0" u="none" strike="noStrike" dirty="0">
                <a:solidFill>
                  <a:srgbClr val="C00000"/>
                </a:solidFill>
                <a:effectLst/>
                <a:latin typeface="Times New Roman" panose="02020603050405020304" pitchFamily="18" charset="0"/>
                <a:cs typeface="Times New Roman" panose="02020603050405020304" pitchFamily="18" charset="0"/>
              </a:rPr>
              <a:t>Project ID: PTID-CHE-JAN-25-069</a:t>
            </a:r>
          </a:p>
          <a:p>
            <a:pPr algn="ctr" rtl="0"/>
            <a:r>
              <a:rPr lang="en-IN" sz="2400" b="1" i="0" u="none" strike="noStrike" dirty="0">
                <a:solidFill>
                  <a:srgbClr val="C00000"/>
                </a:solidFill>
                <a:effectLst/>
                <a:latin typeface="Times New Roman" panose="02020603050405020304" pitchFamily="18" charset="0"/>
                <a:cs typeface="Times New Roman" panose="02020603050405020304" pitchFamily="18" charset="0"/>
              </a:rPr>
              <a:t>BY :Pathan Farhana</a:t>
            </a:r>
            <a:endParaRPr lang="en-IN" sz="2400" dirty="0">
              <a:solidFill>
                <a:srgbClr val="C0000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04375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8FACA9-95DC-CDDE-1B24-11FB287F350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25280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73FC5E-56CF-FD42-D20F-DAC0BA668C90}"/>
              </a:ext>
            </a:extLst>
          </p:cNvPr>
          <p:cNvSpPr txBox="1"/>
          <p:nvPr/>
        </p:nvSpPr>
        <p:spPr>
          <a:xfrm>
            <a:off x="1809136" y="403123"/>
            <a:ext cx="4218038" cy="461665"/>
          </a:xfrm>
          <a:prstGeom prst="rect">
            <a:avLst/>
          </a:prstGeom>
          <a:noFill/>
        </p:spPr>
        <p:txBody>
          <a:bodyPr wrap="square" rtlCol="0">
            <a:spAutoFit/>
          </a:bodyPr>
          <a:lstStyle/>
          <a:p>
            <a:r>
              <a:rPr lang="en-IN" sz="2400" b="1"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rPr>
              <a:t>What is Nmap?</a:t>
            </a:r>
            <a:endParaRPr lang="en-IN" sz="2400" dirty="0">
              <a:solidFill>
                <a:schemeClr val="accent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037A8-985A-E051-B21F-5C7B6D11BFAF}"/>
              </a:ext>
            </a:extLst>
          </p:cNvPr>
          <p:cNvSpPr txBox="1"/>
          <p:nvPr/>
        </p:nvSpPr>
        <p:spPr>
          <a:xfrm>
            <a:off x="1592825" y="943896"/>
            <a:ext cx="10087897"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Nmap (Network Mapper) is a free and open-source network scanning tool used for network discovery and security auditing. It is one of the most popular tools in cybersecurity and is included in Kali Linux by default.</a:t>
            </a:r>
            <a:endParaRPr lang="en-IN" dirty="0"/>
          </a:p>
        </p:txBody>
      </p:sp>
      <p:sp>
        <p:nvSpPr>
          <p:cNvPr id="4" name="TextBox 3">
            <a:extLst>
              <a:ext uri="{FF2B5EF4-FFF2-40B4-BE49-F238E27FC236}">
                <a16:creationId xmlns:a16="http://schemas.microsoft.com/office/drawing/2014/main" id="{F7245F7F-748F-3A29-BF9D-3C40C34B3B71}"/>
              </a:ext>
            </a:extLst>
          </p:cNvPr>
          <p:cNvSpPr txBox="1"/>
          <p:nvPr/>
        </p:nvSpPr>
        <p:spPr>
          <a:xfrm>
            <a:off x="1592825" y="1946334"/>
            <a:ext cx="4021393" cy="738664"/>
          </a:xfrm>
          <a:prstGeom prst="rect">
            <a:avLst/>
          </a:prstGeom>
          <a:noFill/>
        </p:spPr>
        <p:txBody>
          <a:bodyPr wrap="square" rtlCol="0">
            <a:spAutoFit/>
          </a:bodyPr>
          <a:lstStyle/>
          <a:p>
            <a:r>
              <a:rPr lang="en-IN" sz="2400" b="1" i="0" dirty="0">
                <a:solidFill>
                  <a:schemeClr val="accent1"/>
                </a:solidFill>
                <a:effectLst/>
                <a:latin typeface="Times New Roman" panose="02020603050405020304" pitchFamily="18" charset="0"/>
                <a:cs typeface="Times New Roman" panose="02020603050405020304" pitchFamily="18" charset="0"/>
              </a:rPr>
              <a:t>How Does N-Map Work?</a:t>
            </a:r>
          </a:p>
          <a:p>
            <a:endParaRPr lang="en-IN" dirty="0"/>
          </a:p>
        </p:txBody>
      </p:sp>
      <p:sp>
        <p:nvSpPr>
          <p:cNvPr id="5" name="TextBox 4">
            <a:extLst>
              <a:ext uri="{FF2B5EF4-FFF2-40B4-BE49-F238E27FC236}">
                <a16:creationId xmlns:a16="http://schemas.microsoft.com/office/drawing/2014/main" id="{FBF70EE1-AB68-E7CB-A87A-62EBD8E0084C}"/>
              </a:ext>
            </a:extLst>
          </p:cNvPr>
          <p:cNvSpPr txBox="1"/>
          <p:nvPr/>
        </p:nvSpPr>
        <p:spPr>
          <a:xfrm>
            <a:off x="1533835" y="2428118"/>
            <a:ext cx="10087897" cy="646331"/>
          </a:xfrm>
          <a:prstGeom prst="rect">
            <a:avLst/>
          </a:prstGeom>
          <a:noFill/>
        </p:spPr>
        <p:txBody>
          <a:bodyPr wrap="square" rtlCol="0">
            <a:spAutoFit/>
          </a:bodyPr>
          <a:lstStyle/>
          <a:p>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Nmap scans networks by sending data packets to devices and analyzing their responses to detect active hosts, open ports, and running services.</a:t>
            </a:r>
            <a:endParaRPr lang="en-IN" dirty="0"/>
          </a:p>
        </p:txBody>
      </p:sp>
      <p:pic>
        <p:nvPicPr>
          <p:cNvPr id="6" name="Picture 4" descr="nmap_working_cycle-what_is_nmap.">
            <a:extLst>
              <a:ext uri="{FF2B5EF4-FFF2-40B4-BE49-F238E27FC236}">
                <a16:creationId xmlns:a16="http://schemas.microsoft.com/office/drawing/2014/main" id="{E030C962-33FB-5E90-CCA7-906E62EAA4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835" y="3166782"/>
            <a:ext cx="9291485" cy="3371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180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F1537C-E814-BFA8-302E-65808036B40C}"/>
              </a:ext>
            </a:extLst>
          </p:cNvPr>
          <p:cNvSpPr txBox="1"/>
          <p:nvPr/>
        </p:nvSpPr>
        <p:spPr>
          <a:xfrm>
            <a:off x="1740310" y="471947"/>
            <a:ext cx="6223819" cy="461665"/>
          </a:xfrm>
          <a:prstGeom prst="rect">
            <a:avLst/>
          </a:prstGeom>
          <a:noFill/>
        </p:spPr>
        <p:txBody>
          <a:bodyPr wrap="square" rtlCol="0">
            <a:spAutoFit/>
          </a:bodyPr>
          <a:lstStyle/>
          <a:p>
            <a:r>
              <a:rPr lang="en-IN" sz="2400" b="1" dirty="0">
                <a:solidFill>
                  <a:schemeClr val="accent1"/>
                </a:solidFill>
                <a:latin typeface="Times New Roman" panose="02020603050405020304" pitchFamily="18" charset="0"/>
                <a:cs typeface="Times New Roman" panose="02020603050405020304" pitchFamily="18" charset="0"/>
              </a:rPr>
              <a:t>Key Features of Nmap</a:t>
            </a:r>
          </a:p>
        </p:txBody>
      </p:sp>
      <p:sp>
        <p:nvSpPr>
          <p:cNvPr id="5" name="TextBox 4">
            <a:extLst>
              <a:ext uri="{FF2B5EF4-FFF2-40B4-BE49-F238E27FC236}">
                <a16:creationId xmlns:a16="http://schemas.microsoft.com/office/drawing/2014/main" id="{06012AB7-EC2F-E6E4-A5C9-43ABBC3BCFCF}"/>
              </a:ext>
            </a:extLst>
          </p:cNvPr>
          <p:cNvSpPr txBox="1"/>
          <p:nvPr/>
        </p:nvSpPr>
        <p:spPr>
          <a:xfrm>
            <a:off x="1740310" y="1007119"/>
            <a:ext cx="6558116"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Network Discovery</a:t>
            </a:r>
            <a:r>
              <a:rPr lang="en-US" dirty="0">
                <a:latin typeface="Times New Roman" panose="02020603050405020304" pitchFamily="18" charset="0"/>
                <a:cs typeface="Times New Roman" panose="02020603050405020304" pitchFamily="18" charset="0"/>
              </a:rPr>
              <a:t> – Finds active devices on a network.</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CD53D76-6C88-1410-9C69-DB8E6725902C}"/>
              </a:ext>
            </a:extLst>
          </p:cNvPr>
          <p:cNvSpPr txBox="1"/>
          <p:nvPr/>
        </p:nvSpPr>
        <p:spPr>
          <a:xfrm>
            <a:off x="1740310" y="1406072"/>
            <a:ext cx="6174658"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Port Scanning</a:t>
            </a:r>
            <a:r>
              <a:rPr lang="en-IN" dirty="0">
                <a:latin typeface="Times New Roman" panose="02020603050405020304" pitchFamily="18" charset="0"/>
                <a:cs typeface="Times New Roman" panose="02020603050405020304" pitchFamily="18" charset="0"/>
              </a:rPr>
              <a:t> – Identifies open ports on a system.</a:t>
            </a:r>
          </a:p>
        </p:txBody>
      </p:sp>
      <p:sp>
        <p:nvSpPr>
          <p:cNvPr id="7" name="TextBox 6">
            <a:extLst>
              <a:ext uri="{FF2B5EF4-FFF2-40B4-BE49-F238E27FC236}">
                <a16:creationId xmlns:a16="http://schemas.microsoft.com/office/drawing/2014/main" id="{D1335C84-E43F-7280-8418-90DBE760101A}"/>
              </a:ext>
            </a:extLst>
          </p:cNvPr>
          <p:cNvSpPr txBox="1"/>
          <p:nvPr/>
        </p:nvSpPr>
        <p:spPr>
          <a:xfrm>
            <a:off x="1740310" y="1751230"/>
            <a:ext cx="8377084"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Service &amp; Version Detection</a:t>
            </a:r>
            <a:r>
              <a:rPr lang="en-US" dirty="0">
                <a:latin typeface="Times New Roman" panose="02020603050405020304" pitchFamily="18" charset="0"/>
                <a:cs typeface="Times New Roman" panose="02020603050405020304" pitchFamily="18" charset="0"/>
              </a:rPr>
              <a:t> – Detects running services and their versions.</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04F9327-B451-0E25-2824-6C82126C19F0}"/>
              </a:ext>
            </a:extLst>
          </p:cNvPr>
          <p:cNvSpPr txBox="1"/>
          <p:nvPr/>
        </p:nvSpPr>
        <p:spPr>
          <a:xfrm>
            <a:off x="1740310" y="2126009"/>
            <a:ext cx="7973961"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OS Fingerprinting</a:t>
            </a:r>
            <a:r>
              <a:rPr lang="en-IN" dirty="0">
                <a:latin typeface="Times New Roman" panose="02020603050405020304" pitchFamily="18" charset="0"/>
                <a:cs typeface="Times New Roman" panose="02020603050405020304" pitchFamily="18" charset="0"/>
              </a:rPr>
              <a:t> – Determines the target’s operating system.</a:t>
            </a:r>
          </a:p>
        </p:txBody>
      </p:sp>
      <p:sp>
        <p:nvSpPr>
          <p:cNvPr id="9" name="TextBox 8">
            <a:extLst>
              <a:ext uri="{FF2B5EF4-FFF2-40B4-BE49-F238E27FC236}">
                <a16:creationId xmlns:a16="http://schemas.microsoft.com/office/drawing/2014/main" id="{D70780F2-A676-FCE1-F3E3-84A7660CBFB4}"/>
              </a:ext>
            </a:extLst>
          </p:cNvPr>
          <p:cNvSpPr txBox="1"/>
          <p:nvPr/>
        </p:nvSpPr>
        <p:spPr>
          <a:xfrm>
            <a:off x="1740310" y="2501223"/>
            <a:ext cx="7482348"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Vulnerability Detection</a:t>
            </a:r>
            <a:r>
              <a:rPr lang="en-US" dirty="0">
                <a:latin typeface="Times New Roman" panose="02020603050405020304" pitchFamily="18" charset="0"/>
                <a:cs typeface="Times New Roman" panose="02020603050405020304" pitchFamily="18" charset="0"/>
              </a:rPr>
              <a:t> – Uses scripts to find security weaknesses.</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EFA178C-3C68-5382-76C6-6A1865AABC65}"/>
              </a:ext>
            </a:extLst>
          </p:cNvPr>
          <p:cNvSpPr txBox="1"/>
          <p:nvPr/>
        </p:nvSpPr>
        <p:spPr>
          <a:xfrm>
            <a:off x="1740310" y="2854090"/>
            <a:ext cx="8229600"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Firewall Evasion</a:t>
            </a:r>
            <a:r>
              <a:rPr lang="en-US" dirty="0">
                <a:latin typeface="Times New Roman" panose="02020603050405020304" pitchFamily="18" charset="0"/>
                <a:cs typeface="Times New Roman" panose="02020603050405020304" pitchFamily="18" charset="0"/>
              </a:rPr>
              <a:t> – Bypasses some security measures for deeper scans.</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8B96910-4A31-D91F-D512-AC63CA2F59EF}"/>
              </a:ext>
            </a:extLst>
          </p:cNvPr>
          <p:cNvSpPr txBox="1"/>
          <p:nvPr/>
        </p:nvSpPr>
        <p:spPr>
          <a:xfrm>
            <a:off x="1936955" y="3345456"/>
            <a:ext cx="5525729" cy="461665"/>
          </a:xfrm>
          <a:prstGeom prst="rect">
            <a:avLst/>
          </a:prstGeom>
          <a:noFill/>
        </p:spPr>
        <p:txBody>
          <a:bodyPr wrap="square" rtlCol="0">
            <a:spAutoFit/>
          </a:bodyPr>
          <a:lstStyle/>
          <a:p>
            <a:r>
              <a:rPr lang="en-IN" sz="2400" b="1" dirty="0">
                <a:solidFill>
                  <a:schemeClr val="accent1"/>
                </a:solidFill>
                <a:latin typeface="Times New Roman" panose="02020603050405020304" pitchFamily="18" charset="0"/>
                <a:cs typeface="Times New Roman" panose="02020603050405020304" pitchFamily="18" charset="0"/>
              </a:rPr>
              <a:t>Benefits of Nmap:</a:t>
            </a:r>
          </a:p>
        </p:txBody>
      </p:sp>
      <p:sp>
        <p:nvSpPr>
          <p:cNvPr id="14" name="TextBox 13">
            <a:extLst>
              <a:ext uri="{FF2B5EF4-FFF2-40B4-BE49-F238E27FC236}">
                <a16:creationId xmlns:a16="http://schemas.microsoft.com/office/drawing/2014/main" id="{ACF99952-7F85-3034-387C-45582D26B1AD}"/>
              </a:ext>
            </a:extLst>
          </p:cNvPr>
          <p:cNvSpPr txBox="1"/>
          <p:nvPr/>
        </p:nvSpPr>
        <p:spPr>
          <a:xfrm>
            <a:off x="1740310" y="3956950"/>
            <a:ext cx="7039897"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Free &amp; Open-Source</a:t>
            </a:r>
            <a:r>
              <a:rPr lang="en-US" dirty="0">
                <a:latin typeface="Times New Roman" panose="02020603050405020304" pitchFamily="18" charset="0"/>
                <a:cs typeface="Times New Roman" panose="02020603050405020304" pitchFamily="18" charset="0"/>
              </a:rPr>
              <a:t> – No cost, widely supported.</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8AE7122-9C4F-6D7D-448D-0076B1312518}"/>
              </a:ext>
            </a:extLst>
          </p:cNvPr>
          <p:cNvSpPr txBox="1"/>
          <p:nvPr/>
        </p:nvSpPr>
        <p:spPr>
          <a:xfrm>
            <a:off x="1740310" y="4355983"/>
            <a:ext cx="6558116"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Fast &amp; Efficient</a:t>
            </a:r>
            <a:r>
              <a:rPr lang="en-US" dirty="0">
                <a:latin typeface="Times New Roman" panose="02020603050405020304" pitchFamily="18" charset="0"/>
                <a:cs typeface="Times New Roman" panose="02020603050405020304" pitchFamily="18" charset="0"/>
              </a:rPr>
              <a:t> – Scans networks quickly.</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A5D7F498-0B5B-63D4-810F-2C355D39D89A}"/>
              </a:ext>
            </a:extLst>
          </p:cNvPr>
          <p:cNvSpPr txBox="1"/>
          <p:nvPr/>
        </p:nvSpPr>
        <p:spPr>
          <a:xfrm>
            <a:off x="1740310" y="4755016"/>
            <a:ext cx="6961239" cy="369332"/>
          </a:xfrm>
          <a:prstGeom prst="rect">
            <a:avLst/>
          </a:prstGeom>
          <a:noFill/>
        </p:spPr>
        <p:txBody>
          <a:bodyPr wrap="square" rtlCol="0">
            <a:spAutoFit/>
          </a:bodyPr>
          <a:lstStyle/>
          <a:p>
            <a:pPr marL="285750" indent="-285750">
              <a:buFont typeface="Wingdings" panose="05000000000000000000" pitchFamily="2" charset="2"/>
              <a:buChar char="Ø"/>
            </a:pPr>
            <a:r>
              <a:rPr lang="en-US" b="1">
                <a:latin typeface="Times New Roman" panose="02020603050405020304" pitchFamily="18" charset="0"/>
                <a:cs typeface="Times New Roman" panose="02020603050405020304" pitchFamily="18" charset="0"/>
              </a:rPr>
              <a:t>Customizable</a:t>
            </a:r>
            <a:r>
              <a:rPr lang="en-US">
                <a:latin typeface="Times New Roman" panose="02020603050405020304" pitchFamily="18" charset="0"/>
                <a:cs typeface="Times New Roman" panose="02020603050405020304" pitchFamily="18" charset="0"/>
              </a:rPr>
              <a:t> – Supports scripting for advanced scans.</a:t>
            </a:r>
            <a:endParaRPr lang="en-I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84422DF9-B538-6329-7EC0-D2FB681133B4}"/>
              </a:ext>
            </a:extLst>
          </p:cNvPr>
          <p:cNvSpPr txBox="1"/>
          <p:nvPr/>
        </p:nvSpPr>
        <p:spPr>
          <a:xfrm>
            <a:off x="1740310" y="5157730"/>
            <a:ext cx="7039897" cy="369332"/>
          </a:xfrm>
          <a:prstGeom prst="rect">
            <a:avLst/>
          </a:prstGeom>
          <a:noFill/>
        </p:spPr>
        <p:txBody>
          <a:bodyPr wrap="square" rtlCol="0">
            <a:spAutoFit/>
          </a:bodyPr>
          <a:lstStyle/>
          <a:p>
            <a:pPr marL="285750" indent="-285750">
              <a:buFont typeface="Wingdings" panose="05000000000000000000" pitchFamily="2" charset="2"/>
              <a:buChar char="Ø"/>
            </a:pPr>
            <a:r>
              <a:rPr lang="en-US" b="1">
                <a:latin typeface="Times New Roman" panose="02020603050405020304" pitchFamily="18" charset="0"/>
                <a:cs typeface="Times New Roman" panose="02020603050405020304" pitchFamily="18" charset="0"/>
              </a:rPr>
              <a:t>Cross-Platform</a:t>
            </a:r>
            <a:r>
              <a:rPr lang="en-US">
                <a:latin typeface="Times New Roman" panose="02020603050405020304" pitchFamily="18" charset="0"/>
                <a:cs typeface="Times New Roman" panose="02020603050405020304" pitchFamily="18" charset="0"/>
              </a:rPr>
              <a:t> – Works on Windows, Linux, and macOS.</a:t>
            </a:r>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35575835-9049-8F39-DF61-4BF57B0E3DF2}"/>
              </a:ext>
            </a:extLst>
          </p:cNvPr>
          <p:cNvSpPr txBox="1"/>
          <p:nvPr/>
        </p:nvSpPr>
        <p:spPr>
          <a:xfrm>
            <a:off x="1740310" y="5553082"/>
            <a:ext cx="8534400"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Essential for Security</a:t>
            </a:r>
            <a:r>
              <a:rPr lang="en-US" dirty="0">
                <a:latin typeface="Times New Roman" panose="02020603050405020304" pitchFamily="18" charset="0"/>
                <a:cs typeface="Times New Roman" panose="02020603050405020304" pitchFamily="18" charset="0"/>
              </a:rPr>
              <a:t> – Helps in penetration testing and network auditing.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2854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CA86BC-333C-79CC-9321-D738A985A788}"/>
              </a:ext>
            </a:extLst>
          </p:cNvPr>
          <p:cNvSpPr txBox="1"/>
          <p:nvPr/>
        </p:nvSpPr>
        <p:spPr>
          <a:xfrm>
            <a:off x="1769806" y="599767"/>
            <a:ext cx="9733935" cy="830997"/>
          </a:xfrm>
          <a:prstGeom prst="rect">
            <a:avLst/>
          </a:prstGeom>
          <a:noFill/>
        </p:spPr>
        <p:txBody>
          <a:bodyPr wrap="square" rtlCol="0">
            <a:spAutoFit/>
          </a:bodyPr>
          <a:lstStyle/>
          <a:p>
            <a:pPr algn="ctr"/>
            <a:r>
              <a:rPr lang="en-US" sz="2400" b="1" dirty="0">
                <a:solidFill>
                  <a:schemeClr val="accent1"/>
                </a:solidFill>
                <a:latin typeface="Times New Roman" panose="02020603050405020304" pitchFamily="18" charset="0"/>
                <a:cs typeface="Times New Roman" panose="02020603050405020304" pitchFamily="18" charset="0"/>
              </a:rPr>
              <a:t>Make sure you turn on both Kali Linux and the Metasploit machine and connect to the same network</a:t>
            </a:r>
            <a:endParaRPr lang="en-IN" sz="2400" b="1" dirty="0">
              <a:solidFill>
                <a:schemeClr val="accent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5B24BB0-9930-89C0-8AB2-F437843E1DB5}"/>
              </a:ext>
            </a:extLst>
          </p:cNvPr>
          <p:cNvPicPr>
            <a:picLocks noChangeAspect="1"/>
          </p:cNvPicPr>
          <p:nvPr/>
        </p:nvPicPr>
        <p:blipFill>
          <a:blip r:embed="rId2"/>
          <a:stretch>
            <a:fillRect/>
          </a:stretch>
        </p:blipFill>
        <p:spPr>
          <a:xfrm>
            <a:off x="1465006" y="1621707"/>
            <a:ext cx="9881418" cy="4636526"/>
          </a:xfrm>
          <a:prstGeom prst="rect">
            <a:avLst/>
          </a:prstGeom>
        </p:spPr>
      </p:pic>
    </p:spTree>
    <p:extLst>
      <p:ext uri="{BB962C8B-B14F-4D97-AF65-F5344CB8AC3E}">
        <p14:creationId xmlns:p14="http://schemas.microsoft.com/office/powerpoint/2010/main" val="73477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F8DEBC-79CF-E463-EC97-70F188B0682B}"/>
              </a:ext>
            </a:extLst>
          </p:cNvPr>
          <p:cNvSpPr txBox="1"/>
          <p:nvPr/>
        </p:nvSpPr>
        <p:spPr>
          <a:xfrm>
            <a:off x="1710813" y="747251"/>
            <a:ext cx="969460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Firstly, we need to determine the IP address of our target machine using the </a:t>
            </a:r>
            <a:r>
              <a:rPr lang="en-US" b="1" dirty="0">
                <a:solidFill>
                  <a:schemeClr val="accent1"/>
                </a:solidFill>
                <a:latin typeface="Times New Roman" panose="02020603050405020304" pitchFamily="18" charset="0"/>
                <a:cs typeface="Times New Roman" panose="02020603050405020304" pitchFamily="18" charset="0"/>
              </a:rPr>
              <a:t>‘</a:t>
            </a:r>
            <a:r>
              <a:rPr lang="en-US" b="1" dirty="0" err="1">
                <a:solidFill>
                  <a:schemeClr val="accent1"/>
                </a:solidFill>
                <a:latin typeface="Times New Roman" panose="02020603050405020304" pitchFamily="18" charset="0"/>
                <a:cs typeface="Times New Roman" panose="02020603050405020304" pitchFamily="18" charset="0"/>
              </a:rPr>
              <a:t>netdiscover</a:t>
            </a:r>
            <a:r>
              <a:rPr lang="en-US" b="1"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command.</a:t>
            </a:r>
          </a:p>
        </p:txBody>
      </p:sp>
      <p:sp>
        <p:nvSpPr>
          <p:cNvPr id="3" name="TextBox 2">
            <a:extLst>
              <a:ext uri="{FF2B5EF4-FFF2-40B4-BE49-F238E27FC236}">
                <a16:creationId xmlns:a16="http://schemas.microsoft.com/office/drawing/2014/main" id="{709D33DC-206E-9851-87C2-B984D93F4479}"/>
              </a:ext>
            </a:extLst>
          </p:cNvPr>
          <p:cNvSpPr txBox="1"/>
          <p:nvPr/>
        </p:nvSpPr>
        <p:spPr>
          <a:xfrm>
            <a:off x="1838632" y="1116583"/>
            <a:ext cx="5899355" cy="369332"/>
          </a:xfrm>
          <a:prstGeom prst="rect">
            <a:avLst/>
          </a:prstGeom>
          <a:noFill/>
        </p:spPr>
        <p:txBody>
          <a:bodyPr wrap="square" rtlCol="0">
            <a:spAutoFit/>
          </a:bodyPr>
          <a:lstStyle/>
          <a:p>
            <a:r>
              <a:rPr lang="en-US" b="1" dirty="0">
                <a:solidFill>
                  <a:schemeClr val="accent1"/>
                </a:solidFill>
                <a:latin typeface="Times New Roman" panose="02020603050405020304" pitchFamily="18" charset="0"/>
                <a:cs typeface="Times New Roman" panose="02020603050405020304" pitchFamily="18" charset="0"/>
              </a:rPr>
              <a:t>Note:</a:t>
            </a:r>
            <a:r>
              <a:rPr lang="en-US" dirty="0">
                <a:solidFill>
                  <a:schemeClr val="accent1"/>
                </a:solidFill>
                <a:latin typeface="Times New Roman" panose="02020603050405020304" pitchFamily="18" charset="0"/>
                <a:cs typeface="Times New Roman" panose="02020603050405020304" pitchFamily="18" charset="0"/>
              </a:rPr>
              <a:t> Kali Linux must be run as root</a:t>
            </a:r>
          </a:p>
        </p:txBody>
      </p:sp>
      <p:sp>
        <p:nvSpPr>
          <p:cNvPr id="4" name="TextBox 3">
            <a:extLst>
              <a:ext uri="{FF2B5EF4-FFF2-40B4-BE49-F238E27FC236}">
                <a16:creationId xmlns:a16="http://schemas.microsoft.com/office/drawing/2014/main" id="{EE32F686-2FAB-79AC-5668-C44A49A4656F}"/>
              </a:ext>
            </a:extLst>
          </p:cNvPr>
          <p:cNvSpPr txBox="1"/>
          <p:nvPr/>
        </p:nvSpPr>
        <p:spPr>
          <a:xfrm>
            <a:off x="1838632" y="1485915"/>
            <a:ext cx="3962400" cy="369332"/>
          </a:xfrm>
          <a:prstGeom prst="rect">
            <a:avLst/>
          </a:prstGeom>
          <a:noFill/>
        </p:spPr>
        <p:txBody>
          <a:bodyPr wrap="square" rtlCol="0">
            <a:spAutoFit/>
          </a:bodyPr>
          <a:lstStyle/>
          <a:p>
            <a:r>
              <a:rPr lang="en-IN" b="1" dirty="0">
                <a:highlight>
                  <a:srgbClr val="FFFF00"/>
                </a:highlight>
                <a:latin typeface="Times New Roman" panose="02020603050405020304" pitchFamily="18" charset="0"/>
                <a:cs typeface="Times New Roman" panose="02020603050405020304" pitchFamily="18" charset="0"/>
              </a:rPr>
              <a:t>Command </a:t>
            </a:r>
            <a:r>
              <a:rPr lang="en-US" b="1" dirty="0">
                <a:highlight>
                  <a:srgbClr val="FFFF00"/>
                </a:highlight>
                <a:latin typeface="Times New Roman" panose="02020603050405020304" pitchFamily="18" charset="0"/>
                <a:cs typeface="Times New Roman" panose="02020603050405020304" pitchFamily="18" charset="0"/>
              </a:rPr>
              <a:t>: </a:t>
            </a:r>
            <a:r>
              <a:rPr lang="en-US" dirty="0">
                <a:highlight>
                  <a:srgbClr val="FFFF00"/>
                </a:highlight>
                <a:latin typeface="Times New Roman" panose="02020603050405020304" pitchFamily="18" charset="0"/>
                <a:cs typeface="Times New Roman" panose="02020603050405020304" pitchFamily="18" charset="0"/>
              </a:rPr>
              <a:t>$ </a:t>
            </a:r>
            <a:r>
              <a:rPr lang="en-US" dirty="0" err="1">
                <a:highlight>
                  <a:srgbClr val="FFFF00"/>
                </a:highlight>
                <a:latin typeface="Times New Roman" panose="02020603050405020304" pitchFamily="18" charset="0"/>
                <a:cs typeface="Times New Roman" panose="02020603050405020304" pitchFamily="18" charset="0"/>
              </a:rPr>
              <a:t>netdiscover</a:t>
            </a:r>
            <a:endParaRPr lang="en-IN" dirty="0">
              <a:highlight>
                <a:srgbClr val="FFFF00"/>
              </a:highligh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C4D52F7-425C-6CC5-C7E9-C4EE465E0BDA}"/>
              </a:ext>
            </a:extLst>
          </p:cNvPr>
          <p:cNvPicPr>
            <a:picLocks noChangeAspect="1"/>
          </p:cNvPicPr>
          <p:nvPr/>
        </p:nvPicPr>
        <p:blipFill>
          <a:blip r:embed="rId2"/>
          <a:stretch>
            <a:fillRect/>
          </a:stretch>
        </p:blipFill>
        <p:spPr>
          <a:xfrm>
            <a:off x="1917290" y="2053741"/>
            <a:ext cx="8788252" cy="3790914"/>
          </a:xfrm>
          <a:prstGeom prst="rect">
            <a:avLst/>
          </a:prstGeom>
        </p:spPr>
      </p:pic>
    </p:spTree>
    <p:extLst>
      <p:ext uri="{BB962C8B-B14F-4D97-AF65-F5344CB8AC3E}">
        <p14:creationId xmlns:p14="http://schemas.microsoft.com/office/powerpoint/2010/main" val="4193738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6B0DC6-D419-50C3-078B-8CCFA59D7445}"/>
              </a:ext>
            </a:extLst>
          </p:cNvPr>
          <p:cNvSpPr txBox="1"/>
          <p:nvPr/>
        </p:nvSpPr>
        <p:spPr>
          <a:xfrm>
            <a:off x="1641987" y="324464"/>
            <a:ext cx="4994787" cy="738664"/>
          </a:xfrm>
          <a:prstGeom prst="rect">
            <a:avLst/>
          </a:prstGeom>
          <a:noFill/>
        </p:spPr>
        <p:txBody>
          <a:bodyPr wrap="square" rtlCol="0">
            <a:spAutoFit/>
          </a:bodyPr>
          <a:lstStyle/>
          <a:p>
            <a:r>
              <a:rPr lang="en-IN" sz="2400" b="1" kern="100"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rPr>
              <a:t>Common Nmap Commands:</a:t>
            </a:r>
            <a:endParaRPr lang="en-IN" sz="2400" kern="100" dirty="0">
              <a:solidFill>
                <a:schemeClr val="accent1"/>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1D73F7BD-B720-9F61-BCED-A9B9AB045B9A}"/>
              </a:ext>
            </a:extLst>
          </p:cNvPr>
          <p:cNvSpPr txBox="1"/>
          <p:nvPr/>
        </p:nvSpPr>
        <p:spPr>
          <a:xfrm>
            <a:off x="1641987" y="1542263"/>
            <a:ext cx="9969910" cy="646331"/>
          </a:xfrm>
          <a:prstGeom prst="rect">
            <a:avLst/>
          </a:prstGeom>
          <a:noFill/>
        </p:spPr>
        <p:txBody>
          <a:bodyPr wrap="square" rtlCol="0">
            <a:spAutoFit/>
          </a:bodyPr>
          <a:lstStyle/>
          <a:p>
            <a:r>
              <a:rPr lang="en-US" b="1" dirty="0">
                <a:solidFill>
                  <a:schemeClr val="accent1"/>
                </a:solidFill>
                <a:latin typeface="Times New Roman" panose="02020603050405020304" pitchFamily="18" charset="0"/>
                <a:cs typeface="Times New Roman" panose="02020603050405020304" pitchFamily="18" charset="0"/>
              </a:rPr>
              <a:t>Performs a basic scan</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 the target </a:t>
            </a:r>
            <a:r>
              <a:rPr lang="en-US" dirty="0">
                <a:solidFill>
                  <a:schemeClr val="accent1"/>
                </a:solidFill>
                <a:latin typeface="Times New Roman" panose="02020603050405020304" pitchFamily="18" charset="0"/>
                <a:cs typeface="Times New Roman" panose="02020603050405020304" pitchFamily="18" charset="0"/>
              </a:rPr>
              <a:t>IP,</a:t>
            </a:r>
            <a:r>
              <a:rPr lang="en-US" dirty="0">
                <a:latin typeface="Times New Roman" panose="02020603050405020304" pitchFamily="18" charset="0"/>
                <a:cs typeface="Times New Roman" panose="02020603050405020304" pitchFamily="18" charset="0"/>
              </a:rPr>
              <a:t> checking the </a:t>
            </a:r>
            <a:r>
              <a:rPr lang="en-US" b="1" dirty="0">
                <a:solidFill>
                  <a:schemeClr val="accent1"/>
                </a:solidFill>
                <a:latin typeface="Times New Roman" panose="02020603050405020304" pitchFamily="18" charset="0"/>
                <a:cs typeface="Times New Roman" panose="02020603050405020304" pitchFamily="18" charset="0"/>
              </a:rPr>
              <a:t>most common 1000 ports</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 identify open ports and running services.</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4A15D2E-5745-4061-271C-0BB277E2CE6B}"/>
              </a:ext>
            </a:extLst>
          </p:cNvPr>
          <p:cNvSpPr txBox="1"/>
          <p:nvPr/>
        </p:nvSpPr>
        <p:spPr>
          <a:xfrm>
            <a:off x="1641987" y="1033848"/>
            <a:ext cx="7000568" cy="369332"/>
          </a:xfrm>
          <a:prstGeom prst="rect">
            <a:avLst/>
          </a:prstGeom>
          <a:noFill/>
        </p:spPr>
        <p:txBody>
          <a:bodyPr wrap="square" rtlCol="0">
            <a:spAutoFit/>
          </a:bodyPr>
          <a:lstStyle/>
          <a:p>
            <a:r>
              <a:rPr lang="en-IN" b="1" dirty="0">
                <a:highlight>
                  <a:srgbClr val="FFFF00"/>
                </a:highlight>
              </a:rPr>
              <a:t>Command : </a:t>
            </a:r>
            <a:r>
              <a:rPr lang="en-IN" dirty="0" err="1">
                <a:highlight>
                  <a:srgbClr val="FFFF00"/>
                </a:highlight>
                <a:latin typeface="Times New Roman" panose="02020603050405020304" pitchFamily="18" charset="0"/>
                <a:cs typeface="Times New Roman" panose="02020603050405020304" pitchFamily="18" charset="0"/>
              </a:rPr>
              <a:t>nmap</a:t>
            </a:r>
            <a:r>
              <a:rPr lang="en-IN" dirty="0">
                <a:highlight>
                  <a:srgbClr val="FFFF00"/>
                </a:highlight>
                <a:latin typeface="Times New Roman" panose="02020603050405020304" pitchFamily="18" charset="0"/>
                <a:cs typeface="Times New Roman" panose="02020603050405020304" pitchFamily="18" charset="0"/>
              </a:rPr>
              <a:t> &lt;IP Address&gt;</a:t>
            </a:r>
          </a:p>
        </p:txBody>
      </p:sp>
      <p:pic>
        <p:nvPicPr>
          <p:cNvPr id="6" name="Picture 5">
            <a:extLst>
              <a:ext uri="{FF2B5EF4-FFF2-40B4-BE49-F238E27FC236}">
                <a16:creationId xmlns:a16="http://schemas.microsoft.com/office/drawing/2014/main" id="{ADA7F6DA-969B-6ABC-F7B6-E98536C48435}"/>
              </a:ext>
            </a:extLst>
          </p:cNvPr>
          <p:cNvPicPr>
            <a:picLocks noChangeAspect="1"/>
          </p:cNvPicPr>
          <p:nvPr/>
        </p:nvPicPr>
        <p:blipFill>
          <a:blip r:embed="rId2"/>
          <a:stretch>
            <a:fillRect/>
          </a:stretch>
        </p:blipFill>
        <p:spPr>
          <a:xfrm>
            <a:off x="1641987" y="2327677"/>
            <a:ext cx="9399639" cy="4205859"/>
          </a:xfrm>
          <a:prstGeom prst="rect">
            <a:avLst/>
          </a:prstGeom>
        </p:spPr>
      </p:pic>
    </p:spTree>
    <p:extLst>
      <p:ext uri="{BB962C8B-B14F-4D97-AF65-F5344CB8AC3E}">
        <p14:creationId xmlns:p14="http://schemas.microsoft.com/office/powerpoint/2010/main" val="3105247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6BF2BE-AAC1-73A7-4453-8EEA937555E3}"/>
              </a:ext>
            </a:extLst>
          </p:cNvPr>
          <p:cNvSpPr>
            <a:spLocks noChangeArrowheads="1"/>
          </p:cNvSpPr>
          <p:nvPr/>
        </p:nvSpPr>
        <p:spPr bwMode="auto">
          <a:xfrm>
            <a:off x="1524000" y="1044279"/>
            <a:ext cx="1042219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command </a:t>
            </a:r>
            <a:r>
              <a:rPr kumimoji="0" lang="en-US" altLang="en-US" b="1"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iL</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targets.txt</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Nmap to read multiple target IP addresses or domain names from a file named </a:t>
            </a:r>
            <a:r>
              <a:rPr kumimoji="0" lang="en-US" altLang="en-US" sz="1800"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targets.txt</a:t>
            </a:r>
            <a:r>
              <a:rPr kumimoji="0" lang="en-US" altLang="en-US" sz="1800"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scan them all in one go. This is useful for automating scans on multiple hosts without manually entering each target. The file should contain one IP or domain per line. This method is efficient for large-scale network scanning and penetration testing. </a:t>
            </a:r>
          </a:p>
        </p:txBody>
      </p:sp>
      <p:sp>
        <p:nvSpPr>
          <p:cNvPr id="4" name="TextBox 3">
            <a:extLst>
              <a:ext uri="{FF2B5EF4-FFF2-40B4-BE49-F238E27FC236}">
                <a16:creationId xmlns:a16="http://schemas.microsoft.com/office/drawing/2014/main" id="{D36C00EA-94FF-9D72-7755-C9F097F85AED}"/>
              </a:ext>
            </a:extLst>
          </p:cNvPr>
          <p:cNvSpPr txBox="1"/>
          <p:nvPr/>
        </p:nvSpPr>
        <p:spPr>
          <a:xfrm>
            <a:off x="1524000" y="592082"/>
            <a:ext cx="6096000" cy="369332"/>
          </a:xfrm>
          <a:prstGeom prst="rect">
            <a:avLst/>
          </a:prstGeom>
          <a:noFill/>
        </p:spPr>
        <p:txBody>
          <a:bodyPr wrap="square">
            <a:spAutoFit/>
          </a:bodyPr>
          <a:lstStyle/>
          <a:p>
            <a:r>
              <a:rPr lang="en-US" b="1" dirty="0">
                <a:highlight>
                  <a:srgbClr val="FFFF00"/>
                </a:highlight>
                <a:latin typeface="Times New Roman" panose="02020603050405020304" pitchFamily="18" charset="0"/>
                <a:cs typeface="Times New Roman" panose="02020603050405020304" pitchFamily="18" charset="0"/>
              </a:rPr>
              <a:t>Command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iL</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targets.txt</a:t>
            </a:r>
            <a:r>
              <a:rPr lang="en-US" dirty="0">
                <a:highlight>
                  <a:srgbClr val="FFFF00"/>
                </a:highlight>
                <a:latin typeface="Times New Roman" panose="02020603050405020304" pitchFamily="18" charset="0"/>
                <a:cs typeface="Times New Roman" panose="02020603050405020304" pitchFamily="18" charset="0"/>
              </a:rPr>
              <a:t> </a:t>
            </a:r>
            <a:endParaRPr lang="en-IN" dirty="0"/>
          </a:p>
        </p:txBody>
      </p:sp>
      <p:sp>
        <p:nvSpPr>
          <p:cNvPr id="5" name="Rectangle 1">
            <a:extLst>
              <a:ext uri="{FF2B5EF4-FFF2-40B4-BE49-F238E27FC236}">
                <a16:creationId xmlns:a16="http://schemas.microsoft.com/office/drawing/2014/main" id="{B5399694-3001-A193-B6A6-9DF8CDC624E6}"/>
              </a:ext>
            </a:extLst>
          </p:cNvPr>
          <p:cNvSpPr>
            <a:spLocks noChangeArrowheads="1"/>
          </p:cNvSpPr>
          <p:nvPr/>
        </p:nvSpPr>
        <p:spPr bwMode="auto">
          <a:xfrm>
            <a:off x="1524000" y="2327473"/>
            <a:ext cx="75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Note :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and save a text file named </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targets.txt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the nano command </a:t>
            </a:r>
          </a:p>
        </p:txBody>
      </p:sp>
      <p:pic>
        <p:nvPicPr>
          <p:cNvPr id="7" name="Picture 6">
            <a:extLst>
              <a:ext uri="{FF2B5EF4-FFF2-40B4-BE49-F238E27FC236}">
                <a16:creationId xmlns:a16="http://schemas.microsoft.com/office/drawing/2014/main" id="{42F66CC9-1D57-22F6-BEDB-E87AD011CE6A}"/>
              </a:ext>
            </a:extLst>
          </p:cNvPr>
          <p:cNvPicPr>
            <a:picLocks noChangeAspect="1"/>
          </p:cNvPicPr>
          <p:nvPr/>
        </p:nvPicPr>
        <p:blipFill>
          <a:blip r:embed="rId2"/>
          <a:stretch>
            <a:fillRect/>
          </a:stretch>
        </p:blipFill>
        <p:spPr>
          <a:xfrm>
            <a:off x="1523999" y="2779670"/>
            <a:ext cx="9753601" cy="3712570"/>
          </a:xfrm>
          <a:prstGeom prst="rect">
            <a:avLst/>
          </a:prstGeom>
        </p:spPr>
      </p:pic>
    </p:spTree>
    <p:extLst>
      <p:ext uri="{BB962C8B-B14F-4D97-AF65-F5344CB8AC3E}">
        <p14:creationId xmlns:p14="http://schemas.microsoft.com/office/powerpoint/2010/main" val="3640784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DCF628-023C-E67F-1BD1-F43BF67EA4B6}"/>
              </a:ext>
            </a:extLst>
          </p:cNvPr>
          <p:cNvSpPr txBox="1"/>
          <p:nvPr/>
        </p:nvSpPr>
        <p:spPr>
          <a:xfrm>
            <a:off x="1868129" y="492016"/>
            <a:ext cx="9871587" cy="646331"/>
          </a:xfrm>
          <a:prstGeom prst="rect">
            <a:avLst/>
          </a:prstGeom>
          <a:noFill/>
        </p:spPr>
        <p:txBody>
          <a:bodyPr wrap="square" rtlCol="0">
            <a:spAutoFit/>
          </a:bodyPr>
          <a:lstStyle/>
          <a:p>
            <a:r>
              <a:rPr lang="en-US" b="1" dirty="0">
                <a:highlight>
                  <a:srgbClr val="FFFF00"/>
                </a:highlight>
                <a:latin typeface="Times New Roman" panose="02020603050405020304" pitchFamily="18" charset="0"/>
                <a:cs typeface="Times New Roman" panose="02020603050405020304" pitchFamily="18" charset="0"/>
              </a:rPr>
              <a:t>Command :</a:t>
            </a:r>
            <a:r>
              <a:rPr lang="en-US" dirty="0">
                <a:highlight>
                  <a:srgbClr val="FFFF00"/>
                </a:highlight>
                <a:latin typeface="Times New Roman" panose="02020603050405020304" pitchFamily="18" charset="0"/>
                <a:cs typeface="Times New Roman" panose="02020603050405020304" pitchFamily="18" charset="0"/>
              </a:rPr>
              <a:t> </a:t>
            </a:r>
            <a:r>
              <a:rPr lang="en-US" dirty="0" err="1">
                <a:highlight>
                  <a:srgbClr val="FFFF00"/>
                </a:highlight>
                <a:latin typeface="Times New Roman" panose="02020603050405020304" pitchFamily="18" charset="0"/>
                <a:cs typeface="Times New Roman" panose="02020603050405020304" pitchFamily="18" charset="0"/>
              </a:rPr>
              <a:t>nmap</a:t>
            </a:r>
            <a:r>
              <a:rPr lang="en-US" dirty="0">
                <a:highlight>
                  <a:srgbClr val="FFFF00"/>
                </a:highlight>
                <a:latin typeface="Times New Roman" panose="02020603050405020304" pitchFamily="18" charset="0"/>
                <a:cs typeface="Times New Roman" panose="02020603050405020304" pitchFamily="18" charset="0"/>
              </a:rPr>
              <a:t> facebook.com  </a:t>
            </a:r>
          </a:p>
          <a:p>
            <a:r>
              <a:rPr lang="en-US" b="1" dirty="0">
                <a:highlight>
                  <a:srgbClr val="FFFF00"/>
                </a:highlight>
                <a:latin typeface="Times New Roman" panose="02020603050405020304" pitchFamily="18" charset="0"/>
                <a:cs typeface="Times New Roman" panose="02020603050405020304" pitchFamily="18" charset="0"/>
              </a:rPr>
              <a:t>Command : </a:t>
            </a:r>
            <a:r>
              <a:rPr lang="en-US" dirty="0" err="1">
                <a:highlight>
                  <a:srgbClr val="FFFF00"/>
                </a:highlight>
                <a:latin typeface="Times New Roman" panose="02020603050405020304" pitchFamily="18" charset="0"/>
                <a:cs typeface="Times New Roman" panose="02020603050405020304" pitchFamily="18" charset="0"/>
              </a:rPr>
              <a:t>nmap</a:t>
            </a:r>
            <a:r>
              <a:rPr lang="en-US" dirty="0">
                <a:highlight>
                  <a:srgbClr val="FFFF00"/>
                </a:highlight>
                <a:latin typeface="Times New Roman" panose="02020603050405020304" pitchFamily="18" charset="0"/>
                <a:cs typeface="Times New Roman" panose="02020603050405020304" pitchFamily="18" charset="0"/>
              </a:rPr>
              <a:t> -A facebook.com  # For detailed scanning (if not blocked by security measures) </a:t>
            </a:r>
            <a:endParaRPr lang="en-IN" dirty="0">
              <a:highlight>
                <a:srgbClr val="FFFF00"/>
              </a:highlight>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33CCCC4C-0244-8D00-7E11-C859ED39E664}"/>
              </a:ext>
            </a:extLst>
          </p:cNvPr>
          <p:cNvSpPr>
            <a:spLocks noChangeArrowheads="1"/>
          </p:cNvSpPr>
          <p:nvPr/>
        </p:nvSpPr>
        <p:spPr bwMode="auto">
          <a:xfrm>
            <a:off x="1887793" y="1280401"/>
            <a:ext cx="983225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command </a:t>
            </a:r>
            <a:r>
              <a:rPr kumimoji="0" lang="en-US" altLang="en-US" b="0"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facebook.com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a basic scan on Facebook’s domain to check for open ports. For a more detailed scan, you can use </a:t>
            </a:r>
            <a:r>
              <a:rPr kumimoji="0" lang="en-US" altLang="en-US" b="0"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 facebook.com,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but results may be limited due to security measures.</a:t>
            </a:r>
          </a:p>
        </p:txBody>
      </p:sp>
      <p:pic>
        <p:nvPicPr>
          <p:cNvPr id="4" name="Picture 3">
            <a:extLst>
              <a:ext uri="{FF2B5EF4-FFF2-40B4-BE49-F238E27FC236}">
                <a16:creationId xmlns:a16="http://schemas.microsoft.com/office/drawing/2014/main" id="{94001884-D83D-A685-D11A-166508876B12}"/>
              </a:ext>
            </a:extLst>
          </p:cNvPr>
          <p:cNvPicPr>
            <a:picLocks noChangeAspect="1"/>
          </p:cNvPicPr>
          <p:nvPr/>
        </p:nvPicPr>
        <p:blipFill>
          <a:blip r:embed="rId2"/>
          <a:stretch>
            <a:fillRect/>
          </a:stretch>
        </p:blipFill>
        <p:spPr>
          <a:xfrm>
            <a:off x="1809135" y="2203731"/>
            <a:ext cx="10152455" cy="4519046"/>
          </a:xfrm>
          <a:prstGeom prst="rect">
            <a:avLst/>
          </a:prstGeom>
        </p:spPr>
      </p:pic>
    </p:spTree>
    <p:extLst>
      <p:ext uri="{BB962C8B-B14F-4D97-AF65-F5344CB8AC3E}">
        <p14:creationId xmlns:p14="http://schemas.microsoft.com/office/powerpoint/2010/main" val="3966589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8EBF8B-8EBF-7644-F693-06FE0C3653D0}"/>
              </a:ext>
            </a:extLst>
          </p:cNvPr>
          <p:cNvSpPr>
            <a:spLocks noChangeArrowheads="1"/>
          </p:cNvSpPr>
          <p:nvPr/>
        </p:nvSpPr>
        <p:spPr bwMode="auto">
          <a:xfrm>
            <a:off x="1573161" y="1045128"/>
            <a:ext cx="1017638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command </a:t>
            </a:r>
            <a:r>
              <a:rPr kumimoji="0" lang="en-US" altLang="en-US" b="1"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iR</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 randomly picks </a:t>
            </a:r>
            <a:r>
              <a:rPr kumimoji="0" lang="en-US" altLang="en-US" sz="1800"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100 IP addresses</a:t>
            </a:r>
            <a:r>
              <a:rPr kumimoji="0" lang="en-US" altLang="en-US" sz="1800"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the internet and scans them for open ports. It does not target specific hosts but selects them at random. This is useful for research but may trigger security alerts or be considered suspicious activity.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15B88C7A-54E1-8948-B7FF-C24A1287DEE0}"/>
              </a:ext>
            </a:extLst>
          </p:cNvPr>
          <p:cNvSpPr txBox="1"/>
          <p:nvPr/>
        </p:nvSpPr>
        <p:spPr>
          <a:xfrm>
            <a:off x="1573161" y="601915"/>
            <a:ext cx="6096000" cy="369332"/>
          </a:xfrm>
          <a:prstGeom prst="rect">
            <a:avLst/>
          </a:prstGeom>
          <a:noFill/>
        </p:spPr>
        <p:txBody>
          <a:bodyPr wrap="square">
            <a:spAutoFit/>
          </a:bodyPr>
          <a:lstStyle/>
          <a:p>
            <a:r>
              <a:rPr lang="en-US" b="1" dirty="0">
                <a:highlight>
                  <a:srgbClr val="FFFF00"/>
                </a:highlight>
                <a:latin typeface="Times New Roman" panose="02020603050405020304" pitchFamily="18" charset="0"/>
                <a:cs typeface="Times New Roman" panose="02020603050405020304" pitchFamily="18" charset="0"/>
              </a:rPr>
              <a:t>Command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lang="en-IN" dirty="0">
                <a:highlight>
                  <a:srgbClr val="FFFF00"/>
                </a:highlight>
              </a:rPr>
              <a:t>-</a:t>
            </a:r>
            <a:r>
              <a:rPr lang="en-IN" dirty="0" err="1">
                <a:highlight>
                  <a:srgbClr val="FFFF00"/>
                </a:highlight>
              </a:rPr>
              <a:t>iR</a:t>
            </a:r>
            <a:r>
              <a:rPr lang="en-IN" dirty="0">
                <a:highlight>
                  <a:srgbClr val="FFFF00"/>
                </a:highlight>
              </a:rPr>
              <a:t>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100 &lt;</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ip</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address&gt;</a:t>
            </a:r>
            <a:r>
              <a:rPr lang="en-US" dirty="0">
                <a:highlight>
                  <a:srgbClr val="FFFF00"/>
                </a:highlight>
                <a:latin typeface="Times New Roman" panose="02020603050405020304" pitchFamily="18" charset="0"/>
                <a:cs typeface="Times New Roman" panose="02020603050405020304" pitchFamily="18" charset="0"/>
              </a:rPr>
              <a:t> </a:t>
            </a:r>
            <a:endParaRPr lang="en-IN" dirty="0"/>
          </a:p>
        </p:txBody>
      </p:sp>
      <p:pic>
        <p:nvPicPr>
          <p:cNvPr id="5" name="Picture 4">
            <a:extLst>
              <a:ext uri="{FF2B5EF4-FFF2-40B4-BE49-F238E27FC236}">
                <a16:creationId xmlns:a16="http://schemas.microsoft.com/office/drawing/2014/main" id="{8F299868-56E4-8BFB-8928-6C8EEF776DA5}"/>
              </a:ext>
            </a:extLst>
          </p:cNvPr>
          <p:cNvPicPr>
            <a:picLocks noChangeAspect="1"/>
          </p:cNvPicPr>
          <p:nvPr/>
        </p:nvPicPr>
        <p:blipFill>
          <a:blip r:embed="rId2"/>
          <a:stretch>
            <a:fillRect/>
          </a:stretch>
        </p:blipFill>
        <p:spPr>
          <a:xfrm>
            <a:off x="1573161" y="2042339"/>
            <a:ext cx="4959719" cy="3992701"/>
          </a:xfrm>
          <a:prstGeom prst="rect">
            <a:avLst/>
          </a:prstGeom>
        </p:spPr>
      </p:pic>
      <p:pic>
        <p:nvPicPr>
          <p:cNvPr id="7" name="Picture 6">
            <a:extLst>
              <a:ext uri="{FF2B5EF4-FFF2-40B4-BE49-F238E27FC236}">
                <a16:creationId xmlns:a16="http://schemas.microsoft.com/office/drawing/2014/main" id="{B7C8827C-46AE-3BF8-7035-3B1A0100E52E}"/>
              </a:ext>
            </a:extLst>
          </p:cNvPr>
          <p:cNvPicPr>
            <a:picLocks noChangeAspect="1"/>
          </p:cNvPicPr>
          <p:nvPr/>
        </p:nvPicPr>
        <p:blipFill>
          <a:blip r:embed="rId3"/>
          <a:stretch>
            <a:fillRect/>
          </a:stretch>
        </p:blipFill>
        <p:spPr>
          <a:xfrm>
            <a:off x="6661354" y="2042339"/>
            <a:ext cx="5088194" cy="3992701"/>
          </a:xfrm>
          <a:prstGeom prst="rect">
            <a:avLst/>
          </a:prstGeom>
        </p:spPr>
      </p:pic>
    </p:spTree>
    <p:extLst>
      <p:ext uri="{BB962C8B-B14F-4D97-AF65-F5344CB8AC3E}">
        <p14:creationId xmlns:p14="http://schemas.microsoft.com/office/powerpoint/2010/main" val="3396147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DD57F73-4F2A-9EAA-4139-3F32C66E0A5A}"/>
              </a:ext>
            </a:extLst>
          </p:cNvPr>
          <p:cNvSpPr>
            <a:spLocks noChangeArrowheads="1"/>
          </p:cNvSpPr>
          <p:nvPr/>
        </p:nvSpPr>
        <p:spPr bwMode="auto">
          <a:xfrm>
            <a:off x="1632154" y="1300767"/>
            <a:ext cx="101567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command </a:t>
            </a:r>
            <a:r>
              <a:rPr kumimoji="0" lang="en-US" altLang="en-US" b="1"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-p- &lt;IP Address&gt;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scans all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65,535 ports</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the target, instead of just the default 1000 most common ports. This provides a more comprehensive scan to identify any open port. It can take longer to complete due to the large number of ports being scanned.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E1E7322A-BCB5-4D4F-9045-B56523B8B137}"/>
              </a:ext>
            </a:extLst>
          </p:cNvPr>
          <p:cNvSpPr txBox="1"/>
          <p:nvPr/>
        </p:nvSpPr>
        <p:spPr>
          <a:xfrm>
            <a:off x="1632154" y="837888"/>
            <a:ext cx="6096000" cy="369332"/>
          </a:xfrm>
          <a:prstGeom prst="rect">
            <a:avLst/>
          </a:prstGeom>
          <a:noFill/>
        </p:spPr>
        <p:txBody>
          <a:bodyPr wrap="square">
            <a:spAutoFit/>
          </a:bodyPr>
          <a:lstStyle/>
          <a:p>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Command : </a:t>
            </a:r>
            <a:r>
              <a:rPr kumimoji="0" lang="en-US" altLang="en-US" b="0" i="0" u="none" strike="noStrike" cap="none" normalizeH="0" baseline="0" dirty="0" err="1">
                <a:ln>
                  <a:noFill/>
                </a:ln>
                <a:effectLst/>
                <a:highlight>
                  <a:srgbClr val="FFFF00"/>
                </a:highligh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effectLst/>
                <a:highlight>
                  <a:srgbClr val="FFFF00"/>
                </a:highlight>
                <a:latin typeface="Times New Roman" panose="02020603050405020304" pitchFamily="18" charset="0"/>
                <a:cs typeface="Times New Roman" panose="02020603050405020304" pitchFamily="18" charset="0"/>
              </a:rPr>
              <a:t> -p- &lt;IP Address&gt; </a:t>
            </a:r>
            <a:endParaRPr lang="en-IN" dirty="0">
              <a:highlight>
                <a:srgbClr val="FFFF00"/>
              </a:highlight>
            </a:endParaRPr>
          </a:p>
        </p:txBody>
      </p:sp>
      <p:pic>
        <p:nvPicPr>
          <p:cNvPr id="5" name="Picture 4">
            <a:extLst>
              <a:ext uri="{FF2B5EF4-FFF2-40B4-BE49-F238E27FC236}">
                <a16:creationId xmlns:a16="http://schemas.microsoft.com/office/drawing/2014/main" id="{81CD64B6-808B-1390-392F-21AC33D40B54}"/>
              </a:ext>
            </a:extLst>
          </p:cNvPr>
          <p:cNvPicPr>
            <a:picLocks noChangeAspect="1"/>
          </p:cNvPicPr>
          <p:nvPr/>
        </p:nvPicPr>
        <p:blipFill>
          <a:blip r:embed="rId2"/>
          <a:stretch>
            <a:fillRect/>
          </a:stretch>
        </p:blipFill>
        <p:spPr>
          <a:xfrm>
            <a:off x="1632154" y="2317644"/>
            <a:ext cx="10051846" cy="4103476"/>
          </a:xfrm>
          <a:prstGeom prst="rect">
            <a:avLst/>
          </a:prstGeom>
        </p:spPr>
      </p:pic>
    </p:spTree>
    <p:extLst>
      <p:ext uri="{BB962C8B-B14F-4D97-AF65-F5344CB8AC3E}">
        <p14:creationId xmlns:p14="http://schemas.microsoft.com/office/powerpoint/2010/main" val="2555777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FDDCA7-987E-33EC-C3DB-450667408FA5}"/>
              </a:ext>
            </a:extLst>
          </p:cNvPr>
          <p:cNvSpPr>
            <a:spLocks noChangeArrowheads="1"/>
          </p:cNvSpPr>
          <p:nvPr/>
        </p:nvSpPr>
        <p:spPr bwMode="auto">
          <a:xfrm>
            <a:off x="1602658" y="1094290"/>
            <a:ext cx="1030420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command </a:t>
            </a:r>
            <a:r>
              <a:rPr kumimoji="0" lang="en-US" altLang="en-US" b="1"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-p 1-1000 &lt;IP Address&gt;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scans ports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1 through 1000</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the target IP address. This is useful for discovering open ports within the commonly used range. It provides a balance between speed and thoroughness, as it scans a specific range of ports.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2681D405-417D-87A4-2287-5937A586CCE7}"/>
              </a:ext>
            </a:extLst>
          </p:cNvPr>
          <p:cNvSpPr txBox="1"/>
          <p:nvPr/>
        </p:nvSpPr>
        <p:spPr>
          <a:xfrm>
            <a:off x="1622322" y="601915"/>
            <a:ext cx="6096000" cy="369332"/>
          </a:xfrm>
          <a:prstGeom prst="rect">
            <a:avLst/>
          </a:prstGeom>
          <a:noFill/>
        </p:spPr>
        <p:txBody>
          <a:bodyPr wrap="square">
            <a:spAutoFit/>
          </a:bodyPr>
          <a:lstStyle/>
          <a:p>
            <a:r>
              <a:rPr lang="en-US" altLang="en-US" b="1" dirty="0">
                <a:solidFill>
                  <a:schemeClr val="tx1">
                    <a:lumMod val="95000"/>
                    <a:lumOff val="5000"/>
                  </a:schemeClr>
                </a:solidFill>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lumMod val="95000"/>
                    <a:lumOff val="5000"/>
                  </a:schemeClr>
                </a:solidFill>
                <a:effectLst/>
                <a:highlight>
                  <a:srgbClr val="FFFF00"/>
                </a:highlight>
                <a:latin typeface="Times New Roman" panose="02020603050405020304" pitchFamily="18" charset="0"/>
                <a:cs typeface="Times New Roman" panose="02020603050405020304" pitchFamily="18" charset="0"/>
              </a:rPr>
              <a:t>ommand : </a:t>
            </a:r>
            <a:r>
              <a:rPr kumimoji="0" lang="en-US" altLang="en-US" i="0" u="none" strike="noStrike" cap="none" normalizeH="0" baseline="0" dirty="0" err="1">
                <a:ln>
                  <a:noFill/>
                </a:ln>
                <a:solidFill>
                  <a:schemeClr val="tx1">
                    <a:lumMod val="95000"/>
                    <a:lumOff val="5000"/>
                  </a:schemeClr>
                </a:solidFill>
                <a:effectLst/>
                <a:highlight>
                  <a:srgbClr val="FFFF00"/>
                </a:highlight>
                <a:latin typeface="Times New Roman" panose="02020603050405020304" pitchFamily="18" charset="0"/>
                <a:cs typeface="Times New Roman" panose="02020603050405020304" pitchFamily="18" charset="0"/>
              </a:rPr>
              <a:t>nmap</a:t>
            </a:r>
            <a:r>
              <a:rPr kumimoji="0" lang="en-US" altLang="en-US" i="0" u="none" strike="noStrike" cap="none" normalizeH="0" baseline="0" dirty="0">
                <a:ln>
                  <a:noFill/>
                </a:ln>
                <a:solidFill>
                  <a:schemeClr val="tx1">
                    <a:lumMod val="95000"/>
                    <a:lumOff val="5000"/>
                  </a:schemeClr>
                </a:solidFill>
                <a:effectLst/>
                <a:highlight>
                  <a:srgbClr val="FFFF00"/>
                </a:highlight>
                <a:latin typeface="Times New Roman" panose="02020603050405020304" pitchFamily="18" charset="0"/>
                <a:cs typeface="Times New Roman" panose="02020603050405020304" pitchFamily="18" charset="0"/>
              </a:rPr>
              <a:t> -p 1-1000 &lt;IP Address&gt; </a:t>
            </a:r>
            <a:endParaRPr lang="en-IN" dirty="0">
              <a:solidFill>
                <a:schemeClr val="tx1">
                  <a:lumMod val="95000"/>
                  <a:lumOff val="5000"/>
                </a:schemeClr>
              </a:solidFill>
              <a:highlight>
                <a:srgbClr val="FFFF00"/>
              </a:highlight>
            </a:endParaRPr>
          </a:p>
        </p:txBody>
      </p:sp>
      <p:pic>
        <p:nvPicPr>
          <p:cNvPr id="5" name="Picture 4">
            <a:extLst>
              <a:ext uri="{FF2B5EF4-FFF2-40B4-BE49-F238E27FC236}">
                <a16:creationId xmlns:a16="http://schemas.microsoft.com/office/drawing/2014/main" id="{5FB5D2B0-C88B-7FC9-326D-54C0279614A0}"/>
              </a:ext>
            </a:extLst>
          </p:cNvPr>
          <p:cNvPicPr>
            <a:picLocks noChangeAspect="1"/>
          </p:cNvPicPr>
          <p:nvPr/>
        </p:nvPicPr>
        <p:blipFill>
          <a:blip r:embed="rId2"/>
          <a:stretch>
            <a:fillRect/>
          </a:stretch>
        </p:blipFill>
        <p:spPr>
          <a:xfrm>
            <a:off x="1700161" y="2253045"/>
            <a:ext cx="10109200" cy="4003040"/>
          </a:xfrm>
          <a:prstGeom prst="rect">
            <a:avLst/>
          </a:prstGeom>
        </p:spPr>
      </p:pic>
    </p:spTree>
    <p:extLst>
      <p:ext uri="{BB962C8B-B14F-4D97-AF65-F5344CB8AC3E}">
        <p14:creationId xmlns:p14="http://schemas.microsoft.com/office/powerpoint/2010/main" val="3049067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62F813-E0BD-5574-5C0B-945CC3602339}"/>
              </a:ext>
            </a:extLst>
          </p:cNvPr>
          <p:cNvSpPr>
            <a:spLocks noChangeArrowheads="1"/>
          </p:cNvSpPr>
          <p:nvPr/>
        </p:nvSpPr>
        <p:spPr bwMode="auto">
          <a:xfrm>
            <a:off x="1622323" y="1163116"/>
            <a:ext cx="1012722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command </a:t>
            </a:r>
            <a:r>
              <a:rPr kumimoji="0" lang="en-US" altLang="en-US" b="1"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&lt;IP Address&gt; -F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a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fast scan</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checking only the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most common 100 ports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the target IP. It is quicker than a standard scan, but less comprehensive. This is useful for quick network reconnaissance when you need faster results. </a:t>
            </a:r>
          </a:p>
        </p:txBody>
      </p:sp>
      <p:sp>
        <p:nvSpPr>
          <p:cNvPr id="6" name="TextBox 5">
            <a:extLst>
              <a:ext uri="{FF2B5EF4-FFF2-40B4-BE49-F238E27FC236}">
                <a16:creationId xmlns:a16="http://schemas.microsoft.com/office/drawing/2014/main" id="{251805BC-0253-C464-7C6C-ED073E0D38C8}"/>
              </a:ext>
            </a:extLst>
          </p:cNvPr>
          <p:cNvSpPr txBox="1"/>
          <p:nvPr/>
        </p:nvSpPr>
        <p:spPr>
          <a:xfrm>
            <a:off x="1622323" y="641245"/>
            <a:ext cx="6096000" cy="369332"/>
          </a:xfrm>
          <a:prstGeom prst="rect">
            <a:avLst/>
          </a:prstGeom>
          <a:noFill/>
        </p:spPr>
        <p:txBody>
          <a:bodyPr wrap="square">
            <a:spAutoFit/>
          </a:bodyPr>
          <a:lstStyle/>
          <a:p>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Command :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-F </a:t>
            </a:r>
            <a:endParaRPr lang="en-IN" dirty="0">
              <a:highlight>
                <a:srgbClr val="FFFF00"/>
              </a:highlight>
            </a:endParaRPr>
          </a:p>
        </p:txBody>
      </p:sp>
      <p:pic>
        <p:nvPicPr>
          <p:cNvPr id="4" name="Picture 3">
            <a:extLst>
              <a:ext uri="{FF2B5EF4-FFF2-40B4-BE49-F238E27FC236}">
                <a16:creationId xmlns:a16="http://schemas.microsoft.com/office/drawing/2014/main" id="{6DA0962C-6D5C-387C-81D5-B71325AEDDB9}"/>
              </a:ext>
            </a:extLst>
          </p:cNvPr>
          <p:cNvPicPr>
            <a:picLocks noChangeAspect="1"/>
          </p:cNvPicPr>
          <p:nvPr/>
        </p:nvPicPr>
        <p:blipFill>
          <a:blip r:embed="rId2"/>
          <a:stretch>
            <a:fillRect/>
          </a:stretch>
        </p:blipFill>
        <p:spPr>
          <a:xfrm>
            <a:off x="1622323" y="2179219"/>
            <a:ext cx="9106637" cy="4037536"/>
          </a:xfrm>
          <a:prstGeom prst="rect">
            <a:avLst/>
          </a:prstGeom>
        </p:spPr>
      </p:pic>
    </p:spTree>
    <p:extLst>
      <p:ext uri="{BB962C8B-B14F-4D97-AF65-F5344CB8AC3E}">
        <p14:creationId xmlns:p14="http://schemas.microsoft.com/office/powerpoint/2010/main" val="687729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ABEF68-9441-3DB5-A44F-0E4F8413ACA4}"/>
              </a:ext>
            </a:extLst>
          </p:cNvPr>
          <p:cNvSpPr>
            <a:spLocks noChangeArrowheads="1"/>
          </p:cNvSpPr>
          <p:nvPr/>
        </p:nvSpPr>
        <p:spPr bwMode="auto">
          <a:xfrm>
            <a:off x="1504335" y="496260"/>
            <a:ext cx="555522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kumimoji="0" lang="en-US" altLang="en-US"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21,22,80,443</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command scans the specific ports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21 (FTP), 22 (SSH), 80 (HTTP), and 443 (HTTPS)</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the target IP address.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can list specific ports separated by commas to scan only those ports.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C1E065A8-5096-2E67-4615-FA6522143EF2}"/>
              </a:ext>
            </a:extLst>
          </p:cNvPr>
          <p:cNvSpPr txBox="1"/>
          <p:nvPr/>
        </p:nvSpPr>
        <p:spPr>
          <a:xfrm>
            <a:off x="6715432" y="3304786"/>
            <a:ext cx="5476568" cy="198156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kumimoji="0" lang="en-US" altLang="en-US"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http, ftp, ssh</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command scans for the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HTTP</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FTP</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and</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SSH</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services by name instead of port numbers.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Nmap automatically resolves the service names to their default ports (HTTP = 80, FTP = 21, SSH = 22).</a:t>
            </a:r>
          </a:p>
        </p:txBody>
      </p:sp>
      <p:pic>
        <p:nvPicPr>
          <p:cNvPr id="5" name="Picture 4">
            <a:extLst>
              <a:ext uri="{FF2B5EF4-FFF2-40B4-BE49-F238E27FC236}">
                <a16:creationId xmlns:a16="http://schemas.microsoft.com/office/drawing/2014/main" id="{1F68A22D-2E86-3CA0-EE2A-C74F2945E7F4}"/>
              </a:ext>
            </a:extLst>
          </p:cNvPr>
          <p:cNvPicPr>
            <a:picLocks noChangeAspect="1"/>
          </p:cNvPicPr>
          <p:nvPr/>
        </p:nvPicPr>
        <p:blipFill>
          <a:blip r:embed="rId2"/>
          <a:stretch>
            <a:fillRect/>
          </a:stretch>
        </p:blipFill>
        <p:spPr>
          <a:xfrm>
            <a:off x="1076960" y="3153209"/>
            <a:ext cx="5476567" cy="3208531"/>
          </a:xfrm>
          <a:prstGeom prst="rect">
            <a:avLst/>
          </a:prstGeom>
        </p:spPr>
      </p:pic>
      <p:pic>
        <p:nvPicPr>
          <p:cNvPr id="9" name="Picture 8">
            <a:extLst>
              <a:ext uri="{FF2B5EF4-FFF2-40B4-BE49-F238E27FC236}">
                <a16:creationId xmlns:a16="http://schemas.microsoft.com/office/drawing/2014/main" id="{C0A45079-0533-A2E4-FF75-47FE5426B5E8}"/>
              </a:ext>
            </a:extLst>
          </p:cNvPr>
          <p:cNvPicPr>
            <a:picLocks noChangeAspect="1"/>
          </p:cNvPicPr>
          <p:nvPr/>
        </p:nvPicPr>
        <p:blipFill>
          <a:blip r:embed="rId3"/>
          <a:stretch>
            <a:fillRect/>
          </a:stretch>
        </p:blipFill>
        <p:spPr>
          <a:xfrm>
            <a:off x="7059561" y="271559"/>
            <a:ext cx="4907705" cy="2783126"/>
          </a:xfrm>
          <a:prstGeom prst="rect">
            <a:avLst/>
          </a:prstGeom>
        </p:spPr>
      </p:pic>
    </p:spTree>
    <p:extLst>
      <p:ext uri="{BB962C8B-B14F-4D97-AF65-F5344CB8AC3E}">
        <p14:creationId xmlns:p14="http://schemas.microsoft.com/office/powerpoint/2010/main" val="3824167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CA1C51-EDE5-7D24-6C01-F378AA0CB883}"/>
              </a:ext>
            </a:extLst>
          </p:cNvPr>
          <p:cNvSpPr txBox="1"/>
          <p:nvPr/>
        </p:nvSpPr>
        <p:spPr>
          <a:xfrm>
            <a:off x="1902541" y="592613"/>
            <a:ext cx="6096000" cy="369332"/>
          </a:xfrm>
          <a:prstGeom prst="rect">
            <a:avLst/>
          </a:prstGeom>
          <a:noFill/>
        </p:spPr>
        <p:txBody>
          <a:bodyPr wrap="square">
            <a:spAutoFit/>
          </a:bodyPr>
          <a:lstStyle/>
          <a:p>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lang="en-IN" dirty="0" err="1">
                <a:highlight>
                  <a:srgbClr val="FFFF00"/>
                </a:highlight>
                <a:latin typeface="Times New Roman" panose="02020603050405020304" pitchFamily="18" charset="0"/>
                <a:cs typeface="Times New Roman" panose="02020603050405020304" pitchFamily="18" charset="0"/>
              </a:rPr>
              <a:t>nmap</a:t>
            </a:r>
            <a:r>
              <a:rPr lang="en-IN" dirty="0">
                <a:highlight>
                  <a:srgbClr val="FFFF00"/>
                </a:highlight>
                <a:latin typeface="Times New Roman" panose="02020603050405020304" pitchFamily="18" charset="0"/>
                <a:cs typeface="Times New Roman" panose="02020603050405020304" pitchFamily="18" charset="0"/>
              </a:rPr>
              <a:t> &lt;IP Address&gt; -</a:t>
            </a:r>
            <a:r>
              <a:rPr lang="en-IN" dirty="0" err="1">
                <a:highlight>
                  <a:srgbClr val="FFFF00"/>
                </a:highlight>
                <a:latin typeface="Times New Roman" panose="02020603050405020304" pitchFamily="18" charset="0"/>
                <a:cs typeface="Times New Roman" panose="02020603050405020304" pitchFamily="18" charset="0"/>
              </a:rPr>
              <a:t>sV</a:t>
            </a:r>
            <a:endParaRPr lang="en-IN" dirty="0">
              <a:highlight>
                <a:srgbClr val="FFFF00"/>
              </a:highlight>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BACE369-1FC5-4497-B248-70193061C58A}"/>
              </a:ext>
            </a:extLst>
          </p:cNvPr>
          <p:cNvSpPr>
            <a:spLocks noChangeArrowheads="1"/>
          </p:cNvSpPr>
          <p:nvPr/>
        </p:nvSpPr>
        <p:spPr bwMode="auto">
          <a:xfrm>
            <a:off x="1863212" y="777279"/>
            <a:ext cx="9611033" cy="1980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a </a:t>
            </a:r>
            <a:r>
              <a:rPr kumimoji="0" lang="en-US" altLang="en-US" sz="1800"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service version detection</a:t>
            </a:r>
            <a:r>
              <a:rPr kumimoji="0" lang="en-US" altLang="en-US" sz="1800"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scan on the target IP.</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identifies open ports and tries to determine the </a:t>
            </a:r>
            <a:r>
              <a:rPr kumimoji="0" lang="en-US" altLang="en-US" sz="1800"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version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the services running on those ports </a:t>
            </a:r>
            <a:r>
              <a:rPr kumimoji="0" lang="en-US" altLang="en-US" sz="1800"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(e.g., HTTP server version, SSH version).</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is useful for identifying vulnerabilities associated with specific service versions. </a:t>
            </a:r>
          </a:p>
        </p:txBody>
      </p:sp>
      <p:pic>
        <p:nvPicPr>
          <p:cNvPr id="5" name="Picture 4">
            <a:extLst>
              <a:ext uri="{FF2B5EF4-FFF2-40B4-BE49-F238E27FC236}">
                <a16:creationId xmlns:a16="http://schemas.microsoft.com/office/drawing/2014/main" id="{1F62D96A-EA33-FE45-40DC-B497C64A94A1}"/>
              </a:ext>
            </a:extLst>
          </p:cNvPr>
          <p:cNvPicPr>
            <a:picLocks noChangeAspect="1"/>
          </p:cNvPicPr>
          <p:nvPr/>
        </p:nvPicPr>
        <p:blipFill>
          <a:blip r:embed="rId2"/>
          <a:stretch>
            <a:fillRect/>
          </a:stretch>
        </p:blipFill>
        <p:spPr>
          <a:xfrm>
            <a:off x="1902541" y="2807967"/>
            <a:ext cx="9466499" cy="3687049"/>
          </a:xfrm>
          <a:prstGeom prst="rect">
            <a:avLst/>
          </a:prstGeom>
        </p:spPr>
      </p:pic>
    </p:spTree>
    <p:extLst>
      <p:ext uri="{BB962C8B-B14F-4D97-AF65-F5344CB8AC3E}">
        <p14:creationId xmlns:p14="http://schemas.microsoft.com/office/powerpoint/2010/main" val="4187863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BE9233-4369-950F-2577-B20924DF72D2}"/>
              </a:ext>
            </a:extLst>
          </p:cNvPr>
          <p:cNvSpPr>
            <a:spLocks noChangeArrowheads="1"/>
          </p:cNvSpPr>
          <p:nvPr/>
        </p:nvSpPr>
        <p:spPr bwMode="auto">
          <a:xfrm>
            <a:off x="1514167" y="639097"/>
            <a:ext cx="816762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an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aggressive scan</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the target IP.</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includes several advanced options: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OS detection</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identify the operating system of the target.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Service version detection</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determine versions of services running on open ports.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Script scanning</a:t>
            </a:r>
            <a:r>
              <a:rPr kumimoji="0" lang="en-US" altLang="en-US" b="0"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Nmap’s built-in scripts to check for vulnerabilities.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Traceroute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map the network path to the target.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7A94C389-31F4-CE77-404C-DF602A46CD2C}"/>
              </a:ext>
            </a:extLst>
          </p:cNvPr>
          <p:cNvSpPr txBox="1"/>
          <p:nvPr/>
        </p:nvSpPr>
        <p:spPr>
          <a:xfrm>
            <a:off x="1651818" y="454431"/>
            <a:ext cx="6096000" cy="369332"/>
          </a:xfrm>
          <a:prstGeom prst="rect">
            <a:avLst/>
          </a:prstGeom>
          <a:noFill/>
        </p:spPr>
        <p:txBody>
          <a:bodyPr wrap="square">
            <a:spAutoFit/>
          </a:bodyPr>
          <a:lstStyle/>
          <a:p>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lang="en-IN" dirty="0" err="1">
                <a:highlight>
                  <a:srgbClr val="FFFF00"/>
                </a:highlight>
                <a:latin typeface="Times New Roman" panose="02020603050405020304" pitchFamily="18" charset="0"/>
                <a:cs typeface="Times New Roman" panose="02020603050405020304" pitchFamily="18" charset="0"/>
              </a:rPr>
              <a:t>nmap</a:t>
            </a:r>
            <a:r>
              <a:rPr lang="en-IN" dirty="0">
                <a:highlight>
                  <a:srgbClr val="FFFF00"/>
                </a:highlight>
                <a:latin typeface="Times New Roman" panose="02020603050405020304" pitchFamily="18" charset="0"/>
                <a:cs typeface="Times New Roman" panose="02020603050405020304" pitchFamily="18" charset="0"/>
              </a:rPr>
              <a:t> &lt;IP Address&gt; -A</a:t>
            </a:r>
          </a:p>
        </p:txBody>
      </p:sp>
      <p:pic>
        <p:nvPicPr>
          <p:cNvPr id="5" name="Picture 4">
            <a:extLst>
              <a:ext uri="{FF2B5EF4-FFF2-40B4-BE49-F238E27FC236}">
                <a16:creationId xmlns:a16="http://schemas.microsoft.com/office/drawing/2014/main" id="{4C9E7CFC-3179-F868-384D-17A32E1C480F}"/>
              </a:ext>
            </a:extLst>
          </p:cNvPr>
          <p:cNvPicPr>
            <a:picLocks noChangeAspect="1"/>
          </p:cNvPicPr>
          <p:nvPr/>
        </p:nvPicPr>
        <p:blipFill>
          <a:blip r:embed="rId2"/>
          <a:srcRect t="-1" b="49268"/>
          <a:stretch/>
        </p:blipFill>
        <p:spPr>
          <a:xfrm>
            <a:off x="1651818" y="3510280"/>
            <a:ext cx="9351461" cy="3139320"/>
          </a:xfrm>
          <a:prstGeom prst="rect">
            <a:avLst/>
          </a:prstGeom>
        </p:spPr>
      </p:pic>
    </p:spTree>
    <p:extLst>
      <p:ext uri="{BB962C8B-B14F-4D97-AF65-F5344CB8AC3E}">
        <p14:creationId xmlns:p14="http://schemas.microsoft.com/office/powerpoint/2010/main" val="17322865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23E8CC-F0DC-1E2B-E1CB-E24BCF7418B4}"/>
              </a:ext>
            </a:extLst>
          </p:cNvPr>
          <p:cNvSpPr txBox="1"/>
          <p:nvPr/>
        </p:nvSpPr>
        <p:spPr>
          <a:xfrm>
            <a:off x="1625600" y="485894"/>
            <a:ext cx="6096000" cy="369332"/>
          </a:xfrm>
          <a:prstGeom prst="rect">
            <a:avLst/>
          </a:prstGeom>
          <a:noFill/>
        </p:spPr>
        <p:txBody>
          <a:bodyPr wrap="square">
            <a:spAutoFit/>
          </a:bodyPr>
          <a:lstStyle/>
          <a:p>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lang="en-IN" dirty="0" err="1">
                <a:highlight>
                  <a:srgbClr val="FFFF00"/>
                </a:highlight>
                <a:latin typeface="Times New Roman" panose="02020603050405020304" pitchFamily="18" charset="0"/>
                <a:cs typeface="Times New Roman" panose="02020603050405020304" pitchFamily="18" charset="0"/>
              </a:rPr>
              <a:t>nmap</a:t>
            </a:r>
            <a:r>
              <a:rPr lang="en-IN" dirty="0">
                <a:highlight>
                  <a:srgbClr val="FFFF00"/>
                </a:highlight>
                <a:latin typeface="Times New Roman" panose="02020603050405020304" pitchFamily="18" charset="0"/>
                <a:cs typeface="Times New Roman" panose="02020603050405020304" pitchFamily="18" charset="0"/>
              </a:rPr>
              <a:t> &lt;IP Address&gt; -O</a:t>
            </a:r>
          </a:p>
        </p:txBody>
      </p:sp>
      <p:pic>
        <p:nvPicPr>
          <p:cNvPr id="5" name="Picture 4">
            <a:extLst>
              <a:ext uri="{FF2B5EF4-FFF2-40B4-BE49-F238E27FC236}">
                <a16:creationId xmlns:a16="http://schemas.microsoft.com/office/drawing/2014/main" id="{706A99AC-6755-D5DD-8AFB-12ACAA23BAC5}"/>
              </a:ext>
            </a:extLst>
          </p:cNvPr>
          <p:cNvPicPr>
            <a:picLocks noChangeAspect="1"/>
          </p:cNvPicPr>
          <p:nvPr/>
        </p:nvPicPr>
        <p:blipFill>
          <a:blip r:embed="rId2"/>
          <a:stretch>
            <a:fillRect/>
          </a:stretch>
        </p:blipFill>
        <p:spPr>
          <a:xfrm>
            <a:off x="1711960" y="2600960"/>
            <a:ext cx="9733280" cy="3871490"/>
          </a:xfrm>
          <a:prstGeom prst="rect">
            <a:avLst/>
          </a:prstGeom>
        </p:spPr>
      </p:pic>
      <p:sp>
        <p:nvSpPr>
          <p:cNvPr id="7" name="TextBox 6">
            <a:extLst>
              <a:ext uri="{FF2B5EF4-FFF2-40B4-BE49-F238E27FC236}">
                <a16:creationId xmlns:a16="http://schemas.microsoft.com/office/drawing/2014/main" id="{95AC658E-D52A-4C5B-5D53-62665C87D4DB}"/>
              </a:ext>
            </a:extLst>
          </p:cNvPr>
          <p:cNvSpPr txBox="1"/>
          <p:nvPr/>
        </p:nvSpPr>
        <p:spPr>
          <a:xfrm>
            <a:off x="1625600" y="867341"/>
            <a:ext cx="9906000"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It checks what </a:t>
            </a:r>
            <a:r>
              <a:rPr lang="en-US" b="1" dirty="0">
                <a:solidFill>
                  <a:schemeClr val="accent1"/>
                </a:solidFill>
                <a:latin typeface="Times New Roman" panose="02020603050405020304" pitchFamily="18" charset="0"/>
                <a:cs typeface="Times New Roman" panose="02020603050405020304" pitchFamily="18" charset="0"/>
              </a:rPr>
              <a:t>operating system</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(Windows, Linux, etc.) is running on the target computer.</a:t>
            </a:r>
            <a:endParaRPr lang="en-IN"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68CF04E6-0A39-4977-935D-E2C42A538CDD}"/>
              </a:ext>
            </a:extLst>
          </p:cNvPr>
          <p:cNvSpPr>
            <a:spLocks noChangeArrowheads="1"/>
          </p:cNvSpPr>
          <p:nvPr/>
        </p:nvSpPr>
        <p:spPr bwMode="auto">
          <a:xfrm>
            <a:off x="1869440" y="867341"/>
            <a:ext cx="4897495" cy="1566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need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admin (root) access</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run this.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Sometimes, it may not detect the OS correctly.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it fails, try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osscan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-guess to improve results. </a:t>
            </a:r>
          </a:p>
        </p:txBody>
      </p:sp>
    </p:spTree>
    <p:extLst>
      <p:ext uri="{BB962C8B-B14F-4D97-AF65-F5344CB8AC3E}">
        <p14:creationId xmlns:p14="http://schemas.microsoft.com/office/powerpoint/2010/main" val="4041157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694C16-F3A1-289B-3159-97AE27EBA13D}"/>
              </a:ext>
            </a:extLst>
          </p:cNvPr>
          <p:cNvSpPr>
            <a:spLocks noChangeArrowheads="1"/>
          </p:cNvSpPr>
          <p:nvPr/>
        </p:nvSpPr>
        <p:spPr bwMode="auto">
          <a:xfrm>
            <a:off x="1661652" y="1080249"/>
            <a:ext cx="468998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command </a:t>
            </a:r>
            <a:r>
              <a:rPr kumimoji="0" lang="en-US" altLang="en-US" b="0"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&lt;IP Address&gt; -</a:t>
            </a:r>
            <a:r>
              <a:rPr kumimoji="0" lang="en-US" altLang="en-US" b="0" i="0" u="none" strike="noStrike" cap="none" normalizeH="0" baseline="0" dirty="0" err="1">
                <a:ln>
                  <a:noFill/>
                </a:ln>
                <a:solidFill>
                  <a:schemeClr val="accent1"/>
                </a:solidFill>
                <a:effectLst/>
                <a:latin typeface="Times New Roman" panose="02020603050405020304" pitchFamily="18" charset="0"/>
                <a:cs typeface="Times New Roman" panose="02020603050405020304" pitchFamily="18" charset="0"/>
              </a:rPr>
              <a:t>sS</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a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TCP SYN scan</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(stealth scan) on the target IP. It sends SYN packets to ports, making it harder to detect compared to a full TCP connection scan. </a:t>
            </a:r>
          </a:p>
        </p:txBody>
      </p:sp>
      <p:sp>
        <p:nvSpPr>
          <p:cNvPr id="4" name="TextBox 3">
            <a:extLst>
              <a:ext uri="{FF2B5EF4-FFF2-40B4-BE49-F238E27FC236}">
                <a16:creationId xmlns:a16="http://schemas.microsoft.com/office/drawing/2014/main" id="{7A4C101D-FEE6-F9D0-A5AF-573F447D5737}"/>
              </a:ext>
            </a:extLst>
          </p:cNvPr>
          <p:cNvSpPr txBox="1"/>
          <p:nvPr/>
        </p:nvSpPr>
        <p:spPr>
          <a:xfrm>
            <a:off x="1661652" y="631412"/>
            <a:ext cx="6096000" cy="369332"/>
          </a:xfrm>
          <a:prstGeom prst="rect">
            <a:avLst/>
          </a:prstGeom>
          <a:noFill/>
        </p:spPr>
        <p:txBody>
          <a:bodyPr wrap="square">
            <a:spAutoFit/>
          </a:bodyPr>
          <a:lstStyle/>
          <a:p>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Command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sS</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endParaRPr lang="en-IN" dirty="0">
              <a:highlight>
                <a:srgbClr val="FFFF00"/>
              </a:highlight>
            </a:endParaRPr>
          </a:p>
        </p:txBody>
      </p:sp>
      <p:sp>
        <p:nvSpPr>
          <p:cNvPr id="7" name="TextBox 6">
            <a:extLst>
              <a:ext uri="{FF2B5EF4-FFF2-40B4-BE49-F238E27FC236}">
                <a16:creationId xmlns:a16="http://schemas.microsoft.com/office/drawing/2014/main" id="{0B4B52C8-98EA-66A9-0FEB-8FB10B01BDAC}"/>
              </a:ext>
            </a:extLst>
          </p:cNvPr>
          <p:cNvSpPr txBox="1"/>
          <p:nvPr/>
        </p:nvSpPr>
        <p:spPr>
          <a:xfrm>
            <a:off x="5368413" y="4231208"/>
            <a:ext cx="6096000" cy="369332"/>
          </a:xfrm>
          <a:prstGeom prst="rect">
            <a:avLst/>
          </a:prstGeom>
          <a:noFill/>
        </p:spPr>
        <p:txBody>
          <a:bodyPr wrap="square">
            <a:spAutoFit/>
          </a:bodyPr>
          <a:lstStyle/>
          <a:p>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Command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sT</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endParaRPr lang="en-IN" dirty="0">
              <a:highlight>
                <a:srgbClr val="FFFF00"/>
              </a:highlight>
            </a:endParaRPr>
          </a:p>
        </p:txBody>
      </p:sp>
      <p:sp>
        <p:nvSpPr>
          <p:cNvPr id="9" name="Rectangle 3">
            <a:extLst>
              <a:ext uri="{FF2B5EF4-FFF2-40B4-BE49-F238E27FC236}">
                <a16:creationId xmlns:a16="http://schemas.microsoft.com/office/drawing/2014/main" id="{CF5A0629-50A4-1323-8371-23D71C6DA4DD}"/>
              </a:ext>
            </a:extLst>
          </p:cNvPr>
          <p:cNvSpPr>
            <a:spLocks noChangeArrowheads="1"/>
          </p:cNvSpPr>
          <p:nvPr/>
        </p:nvSpPr>
        <p:spPr bwMode="auto">
          <a:xfrm>
            <a:off x="5368413" y="4300424"/>
            <a:ext cx="6587612"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a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TCP connect scan</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the target IP.</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establishes a full TCP connection to each open port, making it more detectable compared to a SYN scan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scan is useful when SYN scanning is not allowed or blocked. </a:t>
            </a:r>
          </a:p>
        </p:txBody>
      </p:sp>
      <p:pic>
        <p:nvPicPr>
          <p:cNvPr id="5" name="Picture 4">
            <a:extLst>
              <a:ext uri="{FF2B5EF4-FFF2-40B4-BE49-F238E27FC236}">
                <a16:creationId xmlns:a16="http://schemas.microsoft.com/office/drawing/2014/main" id="{3EC3DEF3-22F5-160A-E877-3E9BA4EC5CEB}"/>
              </a:ext>
            </a:extLst>
          </p:cNvPr>
          <p:cNvPicPr>
            <a:picLocks noChangeAspect="1"/>
          </p:cNvPicPr>
          <p:nvPr/>
        </p:nvPicPr>
        <p:blipFill>
          <a:blip r:embed="rId3"/>
          <a:stretch>
            <a:fillRect/>
          </a:stretch>
        </p:blipFill>
        <p:spPr>
          <a:xfrm>
            <a:off x="6270359" y="252562"/>
            <a:ext cx="5604386" cy="3628558"/>
          </a:xfrm>
          <a:prstGeom prst="rect">
            <a:avLst/>
          </a:prstGeom>
        </p:spPr>
      </p:pic>
      <p:pic>
        <p:nvPicPr>
          <p:cNvPr id="8" name="Picture 7">
            <a:extLst>
              <a:ext uri="{FF2B5EF4-FFF2-40B4-BE49-F238E27FC236}">
                <a16:creationId xmlns:a16="http://schemas.microsoft.com/office/drawing/2014/main" id="{295CA2CA-B0F6-A6FA-653F-74A15BDCFFF9}"/>
              </a:ext>
            </a:extLst>
          </p:cNvPr>
          <p:cNvPicPr>
            <a:picLocks noChangeAspect="1"/>
          </p:cNvPicPr>
          <p:nvPr/>
        </p:nvPicPr>
        <p:blipFill>
          <a:blip r:embed="rId4"/>
          <a:stretch>
            <a:fillRect/>
          </a:stretch>
        </p:blipFill>
        <p:spPr>
          <a:xfrm>
            <a:off x="620742" y="3429000"/>
            <a:ext cx="4747671" cy="3245492"/>
          </a:xfrm>
          <a:prstGeom prst="rect">
            <a:avLst/>
          </a:prstGeom>
        </p:spPr>
      </p:pic>
    </p:spTree>
    <p:extLst>
      <p:ext uri="{BB962C8B-B14F-4D97-AF65-F5344CB8AC3E}">
        <p14:creationId xmlns:p14="http://schemas.microsoft.com/office/powerpoint/2010/main" val="270697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260D1C-1EFF-7C27-E590-C89D023D6CFF}"/>
              </a:ext>
            </a:extLst>
          </p:cNvPr>
          <p:cNvSpPr>
            <a:spLocks noChangeArrowheads="1"/>
          </p:cNvSpPr>
          <p:nvPr/>
        </p:nvSpPr>
        <p:spPr bwMode="auto">
          <a:xfrm>
            <a:off x="1740309" y="773158"/>
            <a:ext cx="9389807" cy="1704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Performs a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UDP scan</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 the target IP to detect open </a:t>
            </a: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UDP ports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Unlike TCP, UDP is connectionless, so this scan helps identify services running on UDP ports like DNS, SNMP, and others. </a:t>
            </a:r>
          </a:p>
        </p:txBody>
      </p:sp>
      <p:sp>
        <p:nvSpPr>
          <p:cNvPr id="4" name="TextBox 3">
            <a:extLst>
              <a:ext uri="{FF2B5EF4-FFF2-40B4-BE49-F238E27FC236}">
                <a16:creationId xmlns:a16="http://schemas.microsoft.com/office/drawing/2014/main" id="{11874559-6C1E-57AC-2631-9BD69D4D0E03}"/>
              </a:ext>
            </a:extLst>
          </p:cNvPr>
          <p:cNvSpPr txBox="1"/>
          <p:nvPr/>
        </p:nvSpPr>
        <p:spPr>
          <a:xfrm>
            <a:off x="1740309" y="585371"/>
            <a:ext cx="6096000" cy="369332"/>
          </a:xfrm>
          <a:prstGeom prst="rect">
            <a:avLst/>
          </a:prstGeom>
          <a:noFill/>
        </p:spPr>
        <p:txBody>
          <a:bodyPr wrap="square">
            <a:spAutoFit/>
          </a:bodyPr>
          <a:lstStyle/>
          <a:p>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Command :</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a:t>
            </a:r>
            <a:r>
              <a:rPr kumimoji="0" lang="en-US" altLang="en-US" b="0"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s</a:t>
            </a:r>
            <a:r>
              <a:rPr lang="en-US" altLang="en-US" dirty="0" err="1">
                <a:highlight>
                  <a:srgbClr val="FFFF00"/>
                </a:highlight>
                <a:latin typeface="Times New Roman" panose="02020603050405020304" pitchFamily="18" charset="0"/>
                <a:cs typeface="Times New Roman" panose="02020603050405020304" pitchFamily="18" charset="0"/>
              </a:rPr>
              <a:t>U</a:t>
            </a:r>
            <a:r>
              <a:rPr kumimoji="0" lang="en-US" altLang="en-US" b="0"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a:t>
            </a:r>
            <a:endParaRPr lang="en-IN" dirty="0">
              <a:highlight>
                <a:srgbClr val="FFFF00"/>
              </a:highlight>
            </a:endParaRPr>
          </a:p>
        </p:txBody>
      </p:sp>
      <p:pic>
        <p:nvPicPr>
          <p:cNvPr id="5" name="Picture 4">
            <a:extLst>
              <a:ext uri="{FF2B5EF4-FFF2-40B4-BE49-F238E27FC236}">
                <a16:creationId xmlns:a16="http://schemas.microsoft.com/office/drawing/2014/main" id="{1C1A2495-B5F8-3D6B-0497-DA6F31EF2B0B}"/>
              </a:ext>
            </a:extLst>
          </p:cNvPr>
          <p:cNvPicPr>
            <a:picLocks noChangeAspect="1"/>
          </p:cNvPicPr>
          <p:nvPr/>
        </p:nvPicPr>
        <p:blipFill>
          <a:blip r:embed="rId2"/>
          <a:stretch>
            <a:fillRect/>
          </a:stretch>
        </p:blipFill>
        <p:spPr>
          <a:xfrm>
            <a:off x="2025449" y="2665514"/>
            <a:ext cx="7819591" cy="3581296"/>
          </a:xfrm>
          <a:prstGeom prst="rect">
            <a:avLst/>
          </a:prstGeom>
        </p:spPr>
      </p:pic>
    </p:spTree>
    <p:extLst>
      <p:ext uri="{BB962C8B-B14F-4D97-AF65-F5344CB8AC3E}">
        <p14:creationId xmlns:p14="http://schemas.microsoft.com/office/powerpoint/2010/main" val="1010509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17039C-CCFA-2961-78E0-C73DE4F57C34}"/>
              </a:ext>
            </a:extLst>
          </p:cNvPr>
          <p:cNvSpPr>
            <a:spLocks noChangeArrowheads="1"/>
          </p:cNvSpPr>
          <p:nvPr/>
        </p:nvSpPr>
        <p:spPr bwMode="auto">
          <a:xfrm>
            <a:off x="1691149" y="368935"/>
            <a:ext cx="46604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Timing Templates (-T0 to -T5) </a:t>
            </a:r>
          </a:p>
        </p:txBody>
      </p:sp>
      <p:sp>
        <p:nvSpPr>
          <p:cNvPr id="3" name="Rectangle 2">
            <a:extLst>
              <a:ext uri="{FF2B5EF4-FFF2-40B4-BE49-F238E27FC236}">
                <a16:creationId xmlns:a16="http://schemas.microsoft.com/office/drawing/2014/main" id="{9DDD30AC-3609-97AA-13CD-9BE46FA26E30}"/>
              </a:ext>
            </a:extLst>
          </p:cNvPr>
          <p:cNvSpPr>
            <a:spLocks noChangeArrowheads="1"/>
          </p:cNvSpPr>
          <p:nvPr/>
        </p:nvSpPr>
        <p:spPr bwMode="auto">
          <a:xfrm>
            <a:off x="1437476" y="934446"/>
            <a:ext cx="8829367" cy="4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-T0 (Paranoid)</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Very slow scan, designed to avoid detection.</a:t>
            </a:r>
          </a:p>
        </p:txBody>
      </p:sp>
      <p:sp>
        <p:nvSpPr>
          <p:cNvPr id="6" name="TextBox 5">
            <a:extLst>
              <a:ext uri="{FF2B5EF4-FFF2-40B4-BE49-F238E27FC236}">
                <a16:creationId xmlns:a16="http://schemas.microsoft.com/office/drawing/2014/main" id="{A6DD64C5-9944-2FED-AF22-7AB0AD2BF250}"/>
              </a:ext>
            </a:extLst>
          </p:cNvPr>
          <p:cNvSpPr txBox="1"/>
          <p:nvPr/>
        </p:nvSpPr>
        <p:spPr>
          <a:xfrm>
            <a:off x="1884516" y="3199963"/>
            <a:ext cx="6096000" cy="458074"/>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-T1 (Sneaky)</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Slow, less likely to trigger security systems.</a:t>
            </a:r>
          </a:p>
        </p:txBody>
      </p:sp>
      <p:sp>
        <p:nvSpPr>
          <p:cNvPr id="8" name="TextBox 7">
            <a:extLst>
              <a:ext uri="{FF2B5EF4-FFF2-40B4-BE49-F238E27FC236}">
                <a16:creationId xmlns:a16="http://schemas.microsoft.com/office/drawing/2014/main" id="{B11B7EC8-84CF-F8F4-276E-01005F832DC8}"/>
              </a:ext>
            </a:extLst>
          </p:cNvPr>
          <p:cNvSpPr txBox="1"/>
          <p:nvPr/>
        </p:nvSpPr>
        <p:spPr>
          <a:xfrm>
            <a:off x="2230119" y="1514852"/>
            <a:ext cx="7244080" cy="1289071"/>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Paranoid mode is the slowest and least noticeable scan in Nmap.</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sends requests one by one with long gaps in between.</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helps hide the scan from security systems like firewalls and IDS.</a:t>
            </a:r>
            <a:endParaRPr lang="en-IN"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CB569F05-B99A-436B-9197-D19035625EF2}"/>
              </a:ext>
            </a:extLst>
          </p:cNvPr>
          <p:cNvSpPr>
            <a:spLocks noChangeArrowheads="1"/>
          </p:cNvSpPr>
          <p:nvPr/>
        </p:nvSpPr>
        <p:spPr bwMode="auto">
          <a:xfrm>
            <a:off x="2397760" y="3754745"/>
            <a:ext cx="6789038" cy="1289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Sneaky mode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very slow and careful scan in Nmap.</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sends requests with small delays to avoid detection.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for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stealth scanning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being faster than Paranoid mode. </a:t>
            </a:r>
          </a:p>
        </p:txBody>
      </p:sp>
    </p:spTree>
    <p:extLst>
      <p:ext uri="{BB962C8B-B14F-4D97-AF65-F5344CB8AC3E}">
        <p14:creationId xmlns:p14="http://schemas.microsoft.com/office/powerpoint/2010/main" val="34096540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9E3503-7CD3-0319-7DC6-563CE0AF97A8}"/>
              </a:ext>
            </a:extLst>
          </p:cNvPr>
          <p:cNvPicPr>
            <a:picLocks noChangeAspect="1"/>
          </p:cNvPicPr>
          <p:nvPr/>
        </p:nvPicPr>
        <p:blipFill>
          <a:blip r:embed="rId2"/>
          <a:stretch>
            <a:fillRect/>
          </a:stretch>
        </p:blipFill>
        <p:spPr>
          <a:xfrm>
            <a:off x="1711660" y="2196732"/>
            <a:ext cx="9383060" cy="4244708"/>
          </a:xfrm>
          <a:prstGeom prst="rect">
            <a:avLst/>
          </a:prstGeom>
        </p:spPr>
      </p:pic>
      <p:sp>
        <p:nvSpPr>
          <p:cNvPr id="5" name="TextBox 4">
            <a:extLst>
              <a:ext uri="{FF2B5EF4-FFF2-40B4-BE49-F238E27FC236}">
                <a16:creationId xmlns:a16="http://schemas.microsoft.com/office/drawing/2014/main" id="{206EBDCC-5155-99FD-ED76-D1CD9C039976}"/>
              </a:ext>
            </a:extLst>
          </p:cNvPr>
          <p:cNvSpPr txBox="1"/>
          <p:nvPr/>
        </p:nvSpPr>
        <p:spPr>
          <a:xfrm>
            <a:off x="1615440" y="313174"/>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kumimoji="0" lang="en-US" altLang="en-US"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a:t>
            </a:r>
            <a:r>
              <a:rPr lang="en-US" altLang="en-US" dirty="0">
                <a:highlight>
                  <a:srgbClr val="FFFF00"/>
                </a:highlight>
                <a:latin typeface="Times New Roman" panose="02020603050405020304" pitchFamily="18" charset="0"/>
                <a:cs typeface="Times New Roman" panose="02020603050405020304" pitchFamily="18" charset="0"/>
              </a:rPr>
              <a:t>-T2</a:t>
            </a:r>
            <a:endPar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918C002-4457-3761-F3DC-8C4A515D7753}"/>
              </a:ext>
            </a:extLst>
          </p:cNvPr>
          <p:cNvSpPr txBox="1"/>
          <p:nvPr/>
        </p:nvSpPr>
        <p:spPr>
          <a:xfrm>
            <a:off x="1615440" y="624277"/>
            <a:ext cx="7437120" cy="458074"/>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-T2 (Polite)</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Slows down the scan to reduce load on the target.</a:t>
            </a:r>
          </a:p>
        </p:txBody>
      </p:sp>
      <p:sp>
        <p:nvSpPr>
          <p:cNvPr id="8" name="TextBox 7">
            <a:extLst>
              <a:ext uri="{FF2B5EF4-FFF2-40B4-BE49-F238E27FC236}">
                <a16:creationId xmlns:a16="http://schemas.microsoft.com/office/drawing/2014/main" id="{3A56BA33-E492-93AE-06D7-E74329A8590D}"/>
              </a:ext>
            </a:extLst>
          </p:cNvPr>
          <p:cNvSpPr txBox="1"/>
          <p:nvPr/>
        </p:nvSpPr>
        <p:spPr>
          <a:xfrm>
            <a:off x="1615440" y="1082351"/>
            <a:ext cx="10373360" cy="87357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reduces the scan speed to </a:t>
            </a:r>
            <a:r>
              <a:rPr lang="en-US" b="1" dirty="0">
                <a:solidFill>
                  <a:schemeClr val="accent1"/>
                </a:solidFill>
                <a:latin typeface="Times New Roman" panose="02020603050405020304" pitchFamily="18" charset="0"/>
                <a:cs typeface="Times New Roman" panose="02020603050405020304" pitchFamily="18" charset="0"/>
              </a:rPr>
              <a:t>prevent putting too much load on the target network</a:t>
            </a:r>
            <a:r>
              <a:rPr lang="en-US" dirty="0">
                <a:solidFill>
                  <a:schemeClr val="accent1"/>
                </a:solidFill>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mode is useful for </a:t>
            </a:r>
            <a:r>
              <a:rPr lang="en-US" b="1" dirty="0">
                <a:solidFill>
                  <a:schemeClr val="accent1"/>
                </a:solidFill>
                <a:latin typeface="Times New Roman" panose="02020603050405020304" pitchFamily="18" charset="0"/>
                <a:cs typeface="Times New Roman" panose="02020603050405020304" pitchFamily="18" charset="0"/>
              </a:rPr>
              <a:t>scanning without causing disruptions</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especially on busy or sensitive networks.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450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A77B2A-307D-59CB-65E1-D4F4D6601D62}"/>
              </a:ext>
            </a:extLst>
          </p:cNvPr>
          <p:cNvPicPr>
            <a:picLocks noChangeAspect="1"/>
          </p:cNvPicPr>
          <p:nvPr/>
        </p:nvPicPr>
        <p:blipFill>
          <a:blip r:embed="rId2"/>
          <a:stretch>
            <a:fillRect/>
          </a:stretch>
        </p:blipFill>
        <p:spPr>
          <a:xfrm>
            <a:off x="1768820" y="2415355"/>
            <a:ext cx="9976140" cy="3731446"/>
          </a:xfrm>
          <a:prstGeom prst="rect">
            <a:avLst/>
          </a:prstGeom>
        </p:spPr>
      </p:pic>
      <p:sp>
        <p:nvSpPr>
          <p:cNvPr id="5" name="TextBox 4">
            <a:extLst>
              <a:ext uri="{FF2B5EF4-FFF2-40B4-BE49-F238E27FC236}">
                <a16:creationId xmlns:a16="http://schemas.microsoft.com/office/drawing/2014/main" id="{ED2868CD-3AFA-035F-292D-0D15AEC9A482}"/>
              </a:ext>
            </a:extLst>
          </p:cNvPr>
          <p:cNvSpPr txBox="1"/>
          <p:nvPr/>
        </p:nvSpPr>
        <p:spPr>
          <a:xfrm>
            <a:off x="1849120" y="526533"/>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kumimoji="0" lang="en-US" altLang="en-US"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a:t>
            </a:r>
            <a:r>
              <a:rPr lang="en-US" altLang="en-US" dirty="0">
                <a:highlight>
                  <a:srgbClr val="FFFF00"/>
                </a:highlight>
                <a:latin typeface="Times New Roman" panose="02020603050405020304" pitchFamily="18" charset="0"/>
                <a:cs typeface="Times New Roman" panose="02020603050405020304" pitchFamily="18" charset="0"/>
              </a:rPr>
              <a:t>-T3</a:t>
            </a:r>
            <a:endPar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4399191-6CC1-1246-820D-5137650790D0}"/>
              </a:ext>
            </a:extLst>
          </p:cNvPr>
          <p:cNvSpPr txBox="1"/>
          <p:nvPr/>
        </p:nvSpPr>
        <p:spPr>
          <a:xfrm>
            <a:off x="1849120" y="997164"/>
            <a:ext cx="7679980" cy="369332"/>
          </a:xfrm>
          <a:prstGeom prst="rect">
            <a:avLst/>
          </a:prstGeom>
          <a:noFill/>
        </p:spPr>
        <p:txBody>
          <a:bodyPr wrap="square">
            <a:spAutoFit/>
          </a:bodyPr>
          <a:lstStyle/>
          <a:p>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-T3 (Normal)</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Default scan speed, balanced between speed and stealth</a:t>
            </a:r>
            <a:endParaRPr lang="en-IN" dirty="0"/>
          </a:p>
        </p:txBody>
      </p:sp>
      <p:sp>
        <p:nvSpPr>
          <p:cNvPr id="4" name="TextBox 3">
            <a:extLst>
              <a:ext uri="{FF2B5EF4-FFF2-40B4-BE49-F238E27FC236}">
                <a16:creationId xmlns:a16="http://schemas.microsoft.com/office/drawing/2014/main" id="{9CD02771-2D1B-A31F-1B3F-6D80E779A5FC}"/>
              </a:ext>
            </a:extLst>
          </p:cNvPr>
          <p:cNvSpPr txBox="1"/>
          <p:nvPr/>
        </p:nvSpPr>
        <p:spPr>
          <a:xfrm>
            <a:off x="1960880" y="1366496"/>
            <a:ext cx="9621520" cy="87357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provides a </a:t>
            </a:r>
            <a:r>
              <a:rPr lang="en-US" b="1" dirty="0">
                <a:solidFill>
                  <a:schemeClr val="accent1"/>
                </a:solidFill>
                <a:latin typeface="Times New Roman" panose="02020603050405020304" pitchFamily="18" charset="0"/>
                <a:cs typeface="Times New Roman" panose="02020603050405020304" pitchFamily="18" charset="0"/>
              </a:rPr>
              <a:t>balance between speed and stealth</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making it suitable for most situations.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mode is </a:t>
            </a:r>
            <a:r>
              <a:rPr lang="en-US" b="1" dirty="0">
                <a:solidFill>
                  <a:schemeClr val="accent1"/>
                </a:solidFill>
                <a:latin typeface="Times New Roman" panose="02020603050405020304" pitchFamily="18" charset="0"/>
                <a:cs typeface="Times New Roman" panose="02020603050405020304" pitchFamily="18" charset="0"/>
              </a:rPr>
              <a:t>fast enough for general use</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without being too aggressive.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3166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DEA93F-310B-8C2D-A427-97DE31EC7186}"/>
              </a:ext>
            </a:extLst>
          </p:cNvPr>
          <p:cNvPicPr>
            <a:picLocks noChangeAspect="1"/>
          </p:cNvPicPr>
          <p:nvPr/>
        </p:nvPicPr>
        <p:blipFill>
          <a:blip r:embed="rId2"/>
          <a:stretch>
            <a:fillRect/>
          </a:stretch>
        </p:blipFill>
        <p:spPr>
          <a:xfrm>
            <a:off x="1757680" y="2133600"/>
            <a:ext cx="9418320" cy="4343579"/>
          </a:xfrm>
          <a:prstGeom prst="rect">
            <a:avLst/>
          </a:prstGeom>
        </p:spPr>
      </p:pic>
      <p:sp>
        <p:nvSpPr>
          <p:cNvPr id="5" name="TextBox 4">
            <a:extLst>
              <a:ext uri="{FF2B5EF4-FFF2-40B4-BE49-F238E27FC236}">
                <a16:creationId xmlns:a16="http://schemas.microsoft.com/office/drawing/2014/main" id="{53E34726-799F-4DE0-023F-37CF586DD894}"/>
              </a:ext>
            </a:extLst>
          </p:cNvPr>
          <p:cNvSpPr txBox="1"/>
          <p:nvPr/>
        </p:nvSpPr>
        <p:spPr>
          <a:xfrm>
            <a:off x="1646499" y="380821"/>
            <a:ext cx="609407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kumimoji="0" lang="en-US" altLang="en-US"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a:t>
            </a:r>
            <a:r>
              <a:rPr lang="en-US" altLang="en-US" dirty="0">
                <a:highlight>
                  <a:srgbClr val="FFFF00"/>
                </a:highlight>
                <a:latin typeface="Times New Roman" panose="02020603050405020304" pitchFamily="18" charset="0"/>
                <a:cs typeface="Times New Roman" panose="02020603050405020304" pitchFamily="18" charset="0"/>
              </a:rPr>
              <a:t>-T4</a:t>
            </a:r>
            <a:endPar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1A611A7-6F32-C223-E360-298130D08591}"/>
              </a:ext>
            </a:extLst>
          </p:cNvPr>
          <p:cNvSpPr txBox="1"/>
          <p:nvPr/>
        </p:nvSpPr>
        <p:spPr>
          <a:xfrm>
            <a:off x="1950720" y="754765"/>
            <a:ext cx="7559040" cy="458074"/>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-T4 (Aggressive)</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scan, but more likely to be detected.</a:t>
            </a:r>
          </a:p>
        </p:txBody>
      </p:sp>
      <p:sp>
        <p:nvSpPr>
          <p:cNvPr id="4" name="TextBox 3">
            <a:extLst>
              <a:ext uri="{FF2B5EF4-FFF2-40B4-BE49-F238E27FC236}">
                <a16:creationId xmlns:a16="http://schemas.microsoft.com/office/drawing/2014/main" id="{6B57E37B-85DA-47CB-6442-1F2CBF3E8C4E}"/>
              </a:ext>
            </a:extLst>
          </p:cNvPr>
          <p:cNvSpPr txBox="1"/>
          <p:nvPr/>
        </p:nvSpPr>
        <p:spPr>
          <a:xfrm>
            <a:off x="2062479" y="1212839"/>
            <a:ext cx="9417741" cy="87357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good for </a:t>
            </a:r>
            <a:r>
              <a:rPr lang="en-US" b="1" dirty="0">
                <a:solidFill>
                  <a:schemeClr val="accent1"/>
                </a:solidFill>
                <a:latin typeface="Times New Roman" panose="02020603050405020304" pitchFamily="18" charset="0"/>
                <a:cs typeface="Times New Roman" panose="02020603050405020304" pitchFamily="18" charset="0"/>
              </a:rPr>
              <a:t>quick scanning</a:t>
            </a:r>
            <a:r>
              <a:rPr lang="en-US" dirty="0">
                <a:latin typeface="Times New Roman" panose="02020603050405020304" pitchFamily="18" charset="0"/>
                <a:cs typeface="Times New Roman" panose="02020603050405020304" pitchFamily="18" charset="0"/>
              </a:rPr>
              <a:t> but may be easier to detect by security systems.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Best used on </a:t>
            </a:r>
            <a:r>
              <a:rPr lang="en-US" b="1" dirty="0">
                <a:solidFill>
                  <a:schemeClr val="accent1"/>
                </a:solidFill>
                <a:latin typeface="Times New Roman" panose="02020603050405020304" pitchFamily="18" charset="0"/>
                <a:cs typeface="Times New Roman" panose="02020603050405020304" pitchFamily="18" charset="0"/>
              </a:rPr>
              <a:t>stable and trusted networks</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where speed matters more than stealth.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182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4EEF0A-A204-61E4-7C87-B44F4F2EB495}"/>
              </a:ext>
            </a:extLst>
          </p:cNvPr>
          <p:cNvPicPr>
            <a:picLocks noChangeAspect="1"/>
          </p:cNvPicPr>
          <p:nvPr/>
        </p:nvPicPr>
        <p:blipFill>
          <a:blip r:embed="rId2"/>
          <a:stretch>
            <a:fillRect/>
          </a:stretch>
        </p:blipFill>
        <p:spPr>
          <a:xfrm>
            <a:off x="1869440" y="2141037"/>
            <a:ext cx="9611360" cy="4221846"/>
          </a:xfrm>
          <a:prstGeom prst="rect">
            <a:avLst/>
          </a:prstGeom>
        </p:spPr>
      </p:pic>
      <p:sp>
        <p:nvSpPr>
          <p:cNvPr id="5" name="TextBox 4">
            <a:extLst>
              <a:ext uri="{FF2B5EF4-FFF2-40B4-BE49-F238E27FC236}">
                <a16:creationId xmlns:a16="http://schemas.microsoft.com/office/drawing/2014/main" id="{6B67217E-628B-076B-8C16-4AD30B83190B}"/>
              </a:ext>
            </a:extLst>
          </p:cNvPr>
          <p:cNvSpPr txBox="1"/>
          <p:nvPr/>
        </p:nvSpPr>
        <p:spPr>
          <a:xfrm>
            <a:off x="1681224" y="495117"/>
            <a:ext cx="609407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highlight>
                  <a:srgbClr val="FFFF00"/>
                </a:highlight>
                <a:latin typeface="Times New Roman" panose="02020603050405020304" pitchFamily="18" charset="0"/>
                <a:cs typeface="Times New Roman" panose="02020603050405020304" pitchFamily="18" charset="0"/>
              </a:rPr>
              <a:t>C</a:t>
            </a:r>
            <a:r>
              <a:rPr kumimoji="0" lang="en-US" altLang="en-US" b="1"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ommand : </a:t>
            </a:r>
            <a:r>
              <a:rPr kumimoji="0" lang="en-US" altLang="en-US" i="0" u="none" strike="noStrike" cap="none" normalizeH="0" baseline="0" dirty="0" err="1">
                <a:ln>
                  <a:noFill/>
                </a:ln>
                <a:solidFill>
                  <a:schemeClr val="tx1"/>
                </a:solidFill>
                <a:effectLst/>
                <a:highlight>
                  <a:srgbClr val="FFFF00"/>
                </a:highlight>
                <a:latin typeface="Times New Roman" panose="02020603050405020304" pitchFamily="18" charset="0"/>
                <a:cs typeface="Times New Roman" panose="02020603050405020304" pitchFamily="18" charset="0"/>
              </a:rPr>
              <a:t>nmap</a:t>
            </a:r>
            <a:r>
              <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rPr>
              <a:t> &lt;IP Address&gt; </a:t>
            </a:r>
            <a:r>
              <a:rPr lang="en-US" altLang="en-US" dirty="0">
                <a:highlight>
                  <a:srgbClr val="FFFF00"/>
                </a:highlight>
                <a:latin typeface="Times New Roman" panose="02020603050405020304" pitchFamily="18" charset="0"/>
                <a:cs typeface="Times New Roman" panose="02020603050405020304" pitchFamily="18" charset="0"/>
              </a:rPr>
              <a:t>-T5</a:t>
            </a:r>
            <a:endParaRPr kumimoji="0" lang="en-US" altLang="en-US" i="0" u="none" strike="noStrike" cap="none" normalizeH="0" baseline="0" dirty="0">
              <a:ln>
                <a:noFill/>
              </a:ln>
              <a:solidFill>
                <a:schemeClr val="tx1"/>
              </a:solidFill>
              <a:effectLst/>
              <a:highlight>
                <a:srgbClr val="FFFF00"/>
              </a:highligh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D95028A6-77BD-1754-C44F-9E8D57651229}"/>
              </a:ext>
            </a:extLst>
          </p:cNvPr>
          <p:cNvSpPr txBox="1"/>
          <p:nvPr/>
        </p:nvSpPr>
        <p:spPr>
          <a:xfrm>
            <a:off x="1679294" y="864449"/>
            <a:ext cx="7678066" cy="458074"/>
          </a:xfrm>
          <a:prstGeom prst="rect">
            <a:avLst/>
          </a:prstGeom>
          <a:noFill/>
        </p:spPr>
        <p:txBody>
          <a:bodyPr wrap="square">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b="1"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-T5 (Insane)</a:t>
            </a:r>
            <a:r>
              <a:rPr kumimoji="0" lang="en-US" altLang="en-US" b="0" i="0" u="none" strike="noStrike" cap="none" normalizeH="0" baseline="0" dirty="0">
                <a:ln>
                  <a:noFill/>
                </a:ln>
                <a:solidFill>
                  <a:schemeClr val="accent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Fastest scan, may cause packet loss or trigger alarms. </a:t>
            </a:r>
          </a:p>
        </p:txBody>
      </p:sp>
      <p:sp>
        <p:nvSpPr>
          <p:cNvPr id="4" name="TextBox 3">
            <a:extLst>
              <a:ext uri="{FF2B5EF4-FFF2-40B4-BE49-F238E27FC236}">
                <a16:creationId xmlns:a16="http://schemas.microsoft.com/office/drawing/2014/main" id="{7196757E-3289-9C32-8540-0EF17B784C9B}"/>
              </a:ext>
            </a:extLst>
          </p:cNvPr>
          <p:cNvSpPr txBox="1"/>
          <p:nvPr/>
        </p:nvSpPr>
        <p:spPr>
          <a:xfrm>
            <a:off x="2042160" y="1233781"/>
            <a:ext cx="9723120" cy="873572"/>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sends requests very quickly, which can </a:t>
            </a:r>
            <a:r>
              <a:rPr lang="en-US" b="1" dirty="0">
                <a:solidFill>
                  <a:schemeClr val="accent1"/>
                </a:solidFill>
                <a:latin typeface="Times New Roman" panose="02020603050405020304" pitchFamily="18" charset="0"/>
                <a:cs typeface="Times New Roman" panose="02020603050405020304" pitchFamily="18" charset="0"/>
              </a:rPr>
              <a:t>overload networks</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get detected easily.</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Best for </a:t>
            </a:r>
            <a:r>
              <a:rPr lang="en-US" b="1" dirty="0">
                <a:solidFill>
                  <a:schemeClr val="accent1"/>
                </a:solidFill>
                <a:latin typeface="Times New Roman" panose="02020603050405020304" pitchFamily="18" charset="0"/>
                <a:cs typeface="Times New Roman" panose="02020603050405020304" pitchFamily="18" charset="0"/>
              </a:rPr>
              <a:t>very fast scans</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 </a:t>
            </a:r>
            <a:r>
              <a:rPr lang="en-US" b="1" dirty="0">
                <a:solidFill>
                  <a:schemeClr val="accent1"/>
                </a:solidFill>
                <a:latin typeface="Times New Roman" panose="02020603050405020304" pitchFamily="18" charset="0"/>
                <a:cs typeface="Times New Roman" panose="02020603050405020304" pitchFamily="18" charset="0"/>
              </a:rPr>
              <a:t>stable and trusted networks</a:t>
            </a:r>
            <a:r>
              <a:rPr lang="en-US" dirty="0">
                <a:solidFill>
                  <a:schemeClr val="accent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893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a:extLst>
              <a:ext uri="{FF2B5EF4-FFF2-40B4-BE49-F238E27FC236}">
                <a16:creationId xmlns:a16="http://schemas.microsoft.com/office/drawing/2014/main" id="{EB931BF7-0395-012F-A44D-B63A3C126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88446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1073</TotalTime>
  <Words>1499</Words>
  <Application>Microsoft Office PowerPoint</Application>
  <PresentationFormat>Widescreen</PresentationFormat>
  <Paragraphs>104</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Gothic</vt:lpstr>
      <vt:lpstr>Times New Roman</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GIRIJA SRIRAMDAS</dc:creator>
  <cp:lastModifiedBy>pathan.farhana283@gmail.com</cp:lastModifiedBy>
  <cp:revision>15</cp:revision>
  <dcterms:created xsi:type="dcterms:W3CDTF">2025-02-16T11:39:48Z</dcterms:created>
  <dcterms:modified xsi:type="dcterms:W3CDTF">2025-02-22T07:26:28Z</dcterms:modified>
</cp:coreProperties>
</file>